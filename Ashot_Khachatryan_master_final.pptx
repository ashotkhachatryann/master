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9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63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75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4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5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2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6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09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2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14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51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46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92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40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88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55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4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4929172-4BF7-429F-BA25-7E9D1A4215E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10681-6F62-6B81-516D-95EC0B83D1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47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10659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ijssst.info/Vol-19/No-6/paper36.pdf" TargetMode="External"/><Relationship Id="rId3" Type="http://schemas.openxmlformats.org/officeDocument/2006/relationships/hyperlink" Target="https://www.ituonline.com/tech-definitions/what-is-zstd-zstandard/" TargetMode="External"/><Relationship Id="rId7" Type="http://schemas.openxmlformats.org/officeDocument/2006/relationships/hyperlink" Target="https://www.ijcttjournal.org/Volume64/IJCTT-V64P106.pd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astcompression.blogspot.com/2011/05/lz4-explained.html" TargetMode="External"/><Relationship Id="rId5" Type="http://schemas.openxmlformats.org/officeDocument/2006/relationships/hyperlink" Target="https://github.com/facebook/zstd" TargetMode="External"/><Relationship Id="rId4" Type="http://schemas.openxmlformats.org/officeDocument/2006/relationships/hyperlink" Target="https://datatracker.ietf.org/doc/html/rfc8878" TargetMode="External"/><Relationship Id="rId9" Type="http://schemas.openxmlformats.org/officeDocument/2006/relationships/hyperlink" Target="https://en.wikipedia.org/wiki/Asymmetric_numeral_system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73E89-4B6E-2DDB-C3B1-97061BC63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0485D1-EF43-7F82-1A58-459676017090}"/>
              </a:ext>
            </a:extLst>
          </p:cNvPr>
          <p:cNvSpPr txBox="1"/>
          <p:nvPr/>
        </p:nvSpPr>
        <p:spPr>
          <a:xfrm>
            <a:off x="1410652" y="378118"/>
            <a:ext cx="9370695" cy="1471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24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ՀԱՅԱՍՏԱՆԻ ԱԶԳԱՅԻՆ ՊՈԼԻՏԵԽՆԻԿԱԿԱՆ ՀԱՄԱԼՍԱՐԱՆ</a:t>
            </a:r>
            <a:endParaRPr lang="en-US" sz="2400" dirty="0">
              <a:effectLst/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24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endParaRPr lang="en-US" sz="2400" dirty="0">
              <a:effectLst/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24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ՄԱԳԻՍՏՐՈՍԱԿԱՆ ԹԵԶ</a:t>
            </a:r>
            <a:endParaRPr lang="en-US" sz="2400" dirty="0">
              <a:effectLst/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1B786-E18F-6D2F-001C-445535C7687E}"/>
              </a:ext>
            </a:extLst>
          </p:cNvPr>
          <p:cNvSpPr txBox="1"/>
          <p:nvPr/>
        </p:nvSpPr>
        <p:spPr>
          <a:xfrm>
            <a:off x="1708484" y="2539833"/>
            <a:ext cx="9820004" cy="44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22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ԹԵՄԱ` Ձայնային ազդանշանի սեղման ալգորիթմի մշակում և իրագործում</a:t>
            </a:r>
            <a:endParaRPr lang="en-US" sz="2200" dirty="0">
              <a:effectLst/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D1B14-867A-ECCA-02B1-6D3B8C70A047}"/>
              </a:ext>
            </a:extLst>
          </p:cNvPr>
          <p:cNvSpPr txBox="1"/>
          <p:nvPr/>
        </p:nvSpPr>
        <p:spPr>
          <a:xfrm>
            <a:off x="1611057" y="3781465"/>
            <a:ext cx="8969883" cy="106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y-AM" sz="2200" i="0" u="none" strike="noStrike" dirty="0">
                <a:latin typeface="Sylfaen" panose="010A0502050306030303" pitchFamily="18" charset="0"/>
                <a:cs typeface="Arial" panose="020B0604020202020204" pitchFamily="34" charset="0"/>
              </a:rPr>
              <a:t>ՄՄԹ-</a:t>
            </a:r>
            <a:r>
              <a:rPr lang="en-US" sz="2200" i="0" u="none" strike="noStrike" dirty="0">
                <a:latin typeface="Sylfaen" panose="010A0502050306030303" pitchFamily="18" charset="0"/>
                <a:cs typeface="Arial" panose="020B0604020202020204" pitchFamily="34" charset="0"/>
              </a:rPr>
              <a:t>4</a:t>
            </a:r>
            <a:r>
              <a:rPr lang="hy-AM" sz="2200" i="0" u="none" strike="noStrike" dirty="0">
                <a:latin typeface="Sylfaen" panose="010A0502050306030303" pitchFamily="18" charset="0"/>
                <a:cs typeface="Arial" panose="020B0604020202020204" pitchFamily="34" charset="0"/>
              </a:rPr>
              <a:t>40 ակադեմիական խմբի ուսանող՝ Աշոտ Խաչատրյան</a:t>
            </a:r>
          </a:p>
          <a:p>
            <a:pPr algn="ctr">
              <a:lnSpc>
                <a:spcPct val="150000"/>
              </a:lnSpc>
            </a:pPr>
            <a:r>
              <a:rPr lang="hy-AM" sz="2200" i="0" u="none" strike="noStrike" dirty="0">
                <a:latin typeface="Sylfaen" panose="010A0502050306030303" pitchFamily="18" charset="0"/>
                <a:cs typeface="Arial" panose="020B0604020202020204" pitchFamily="34" charset="0"/>
              </a:rPr>
              <a:t>Ղեկավար՝ </a:t>
            </a:r>
            <a:r>
              <a:rPr lang="hy-AM" sz="2200" dirty="0">
                <a:latin typeface="Sylfaen" panose="010A0502050306030303" pitchFamily="18" charset="0"/>
                <a:cs typeface="Arial" panose="020B0604020202020204" pitchFamily="34" charset="0"/>
              </a:rPr>
              <a:t>ֆ.մ.գ.թ., դոցենտ Սամվել Հ. Խաչատրյան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00FA9-ED98-4DBF-F033-32263D54B0A1}"/>
              </a:ext>
            </a:extLst>
          </p:cNvPr>
          <p:cNvSpPr txBox="1"/>
          <p:nvPr/>
        </p:nvSpPr>
        <p:spPr>
          <a:xfrm>
            <a:off x="3044188" y="6018217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y-AM" sz="24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ԵՐԵՎԱՆ 2026</a:t>
            </a:r>
            <a:endParaRPr lang="en-US" sz="2400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73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FF68E3-15A2-8B82-388F-97C05C044BFF}"/>
              </a:ext>
            </a:extLst>
          </p:cNvPr>
          <p:cNvSpPr txBox="1"/>
          <p:nvPr/>
        </p:nvSpPr>
        <p:spPr>
          <a:xfrm>
            <a:off x="2033338" y="432830"/>
            <a:ext cx="10058880" cy="5722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ԲՈՎԱՆԴԱԿՈՒԹՅՈՒՆ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Խնդրի դրվածք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Տվյալների սեղմում և Թվային ձայն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 </a:t>
            </a: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ձայնային տվյալների ձևաչափ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Պատահական մեծության երկուսական էնտրոպիա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Zstd </a:t>
            </a: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սեղմման ալգորիթմ և </a:t>
            </a:r>
            <a:r>
              <a:rPr lang="ru-RU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Հոֆֆմանի կոդավորումը WAV ֆայլերի համար</a:t>
            </a:r>
            <a:endParaRPr lang="hy-AM" sz="2200" dirty="0"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ru-RU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 ֆայլի տվյալների վերլուծիչ</a:t>
            </a:r>
            <a:endParaRPr lang="hy-AM" sz="2200" dirty="0"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ru-RU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Թվաբանական կոդավորման ալգորիթմ</a:t>
            </a:r>
            <a:endParaRPr lang="hy-AM" sz="2200" dirty="0"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ru-RU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Zstd համադրումը այլ կոդավորումներին</a:t>
            </a:r>
            <a:endParaRPr lang="hy-AM" sz="2200" dirty="0"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Հ</a:t>
            </a:r>
            <a:r>
              <a:rPr lang="ru-RU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ամեմատ</a:t>
            </a: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ական արդյունքներ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Եզրակացություն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hy-AM" sz="22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Գրականության ցանկ</a:t>
            </a:r>
            <a:endParaRPr lang="en-US" sz="2200" dirty="0"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21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1D95C-5482-A3BA-C42A-BCCC815D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DE2CB-60AE-3BC5-E83D-B8730FCD1E69}"/>
              </a:ext>
            </a:extLst>
          </p:cNvPr>
          <p:cNvSpPr txBox="1"/>
          <p:nvPr/>
        </p:nvSpPr>
        <p:spPr>
          <a:xfrm>
            <a:off x="1603209" y="2842493"/>
            <a:ext cx="10440402" cy="163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sz="2200" dirty="0">
                <a:solidFill>
                  <a:srgbClr val="000000"/>
                </a:solidFill>
                <a:latin typeface="Sylfaen" panose="010A0502050306030303" pitchFamily="18" charset="0"/>
                <a:ea typeface="Calibri" panose="020F0502020204030204" pitchFamily="34" charset="0"/>
              </a:rPr>
              <a:t>Ձայնային ազդանշանի սեղմման ալգորիթմների ուսումնասիրություն և դրանց հիման վրա օպտիմալ սեղմման ալգորիթմի մշակում և իրականացում։</a:t>
            </a:r>
            <a:endParaRPr lang="en-US" sz="2200" dirty="0">
              <a:solidFill>
                <a:srgbClr val="000000"/>
              </a:solidFill>
              <a:latin typeface="Sylfaen" panose="010A0502050306030303" pitchFamily="18" charset="0"/>
              <a:ea typeface="Calibri" panose="020F050202020403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sz="2200" dirty="0">
                <a:solidFill>
                  <a:srgbClr val="000000"/>
                </a:solidFill>
                <a:latin typeface="Sylfaen" panose="010A0502050306030303" pitchFamily="18" charset="0"/>
                <a:ea typeface="Calibri" panose="020F0502020204030204" pitchFamily="34" charset="0"/>
              </a:rPr>
              <a:t>Համեմատական հետազոտություն ըստ</a:t>
            </a:r>
            <a:r>
              <a:rPr lang="en-US" sz="2200" dirty="0">
                <a:solidFill>
                  <a:srgbClr val="000000"/>
                </a:solidFill>
                <a:latin typeface="Sylfaen" panose="010A0502050306030303" pitchFamily="18" charset="0"/>
                <a:ea typeface="Calibri" panose="020F0502020204030204" pitchFamily="34" charset="0"/>
              </a:rPr>
              <a:t> </a:t>
            </a:r>
            <a:r>
              <a:rPr lang="hy-AM" sz="2200" dirty="0">
                <a:solidFill>
                  <a:srgbClr val="000000"/>
                </a:solidFill>
                <a:latin typeface="Sylfaen" panose="010A0502050306030303" pitchFamily="18" charset="0"/>
                <a:ea typeface="Calibri" panose="020F0502020204030204" pitchFamily="34" charset="0"/>
              </a:rPr>
              <a:t>սեղմման ալգորիթմների չափանիշների</a:t>
            </a:r>
            <a:r>
              <a:rPr lang="en-US" sz="2200" dirty="0">
                <a:solidFill>
                  <a:srgbClr val="000000"/>
                </a:solidFill>
                <a:latin typeface="Sylfaen" panose="010A0502050306030303" pitchFamily="18" charset="0"/>
                <a:ea typeface="Calibri" panose="020F0502020204030204" pitchFamily="34" charset="0"/>
              </a:rPr>
              <a:t>:</a:t>
            </a:r>
            <a:endParaRPr lang="hy-AM" sz="2200" dirty="0"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3044C-60FE-8A91-A604-126A6752AFA7}"/>
              </a:ext>
            </a:extLst>
          </p:cNvPr>
          <p:cNvSpPr txBox="1"/>
          <p:nvPr/>
        </p:nvSpPr>
        <p:spPr>
          <a:xfrm>
            <a:off x="3044190" y="312996"/>
            <a:ext cx="6103620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ԽՆԴՐԻ ԴՐՎԱԾՔ</a:t>
            </a:r>
          </a:p>
        </p:txBody>
      </p:sp>
    </p:spTree>
    <p:extLst>
      <p:ext uri="{BB962C8B-B14F-4D97-AF65-F5344CB8AC3E}">
        <p14:creationId xmlns:p14="http://schemas.microsoft.com/office/powerpoint/2010/main" val="263647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71E92-8BFD-E523-334D-5667DD48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916246-DDFC-0C9C-CD71-9BA860F7B665}"/>
                  </a:ext>
                </a:extLst>
              </p:cNvPr>
              <p:cNvSpPr txBox="1"/>
              <p:nvPr/>
            </p:nvSpPr>
            <p:spPr>
              <a:xfrm>
                <a:off x="6184412" y="3733038"/>
                <a:ext cx="5926795" cy="286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y-AM" sz="2000" b="1" dirty="0">
                    <a:latin typeface="Sylfaen" panose="010A0502050306030303" pitchFamily="18" charset="0"/>
                  </a:rPr>
                  <a:t>Սեղմման չափանիշներ</a:t>
                </a:r>
                <a:endParaRPr lang="hy-AM" sz="2000" b="1" dirty="0">
                  <a:solidFill>
                    <a:srgbClr val="000000"/>
                  </a:solidFill>
                  <a:latin typeface="Sylfaen" panose="010A0502050306030303" pitchFamily="18" charset="0"/>
                  <a:ea typeface="Calibri" panose="020F050202020403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r>
                      <a:rPr lang="ru-RU" sz="1600">
                        <a:latin typeface="Cambria Math" panose="02040503050406030204" pitchFamily="18" charset="0"/>
                      </a:rPr>
                      <m:t>Սեղմման հարաբերակցություն=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>
                            <a:latin typeface="Cambria Math" panose="02040503050406030204" pitchFamily="18" charset="0"/>
                          </a:rPr>
                          <m:t>Ելքային հոսքի չափ</m:t>
                        </m:r>
                      </m:num>
                      <m:den>
                        <m:r>
                          <a:rPr lang="ru-RU" sz="1600">
                            <a:latin typeface="Cambria Math" panose="02040503050406030204" pitchFamily="18" charset="0"/>
                          </a:rPr>
                          <m:t>Մուտքային հոսքի չափ</m:t>
                        </m:r>
                      </m:den>
                    </m:f>
                  </m:oMath>
                </a14:m>
                <a:endParaRPr lang="hy-AM" sz="16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r>
                      <a:rPr lang="ru-RU" sz="1600">
                        <a:latin typeface="Cambria Math" panose="02040503050406030204" pitchFamily="18" charset="0"/>
                      </a:rPr>
                      <m:t>Սեղմման հարաբերակցություն=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>
                            <a:latin typeface="Cambria Math" panose="02040503050406030204" pitchFamily="18" charset="0"/>
                          </a:rPr>
                          <m:t>Ելքային հոսքի չափ</m:t>
                        </m:r>
                      </m:num>
                      <m:den>
                        <m:r>
                          <a:rPr lang="ru-RU" sz="1600">
                            <a:latin typeface="Cambria Math" panose="02040503050406030204" pitchFamily="18" charset="0"/>
                          </a:rPr>
                          <m:t>Մուտքային հոսքի չափ</m:t>
                        </m:r>
                      </m:den>
                    </m:f>
                  </m:oMath>
                </a14:m>
                <a:endParaRPr lang="hy-AM" sz="16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r>
                      <a:rPr lang="hy-AM" sz="1600">
                        <a:latin typeface="Cambria Math" panose="02040503050406030204" pitchFamily="18" charset="0"/>
                      </a:rPr>
                      <m:t>Արդյունավետություն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u-RU" sz="1600">
                        <a:latin typeface="Cambria Math" panose="02040503050406030204" pitchFamily="18" charset="0"/>
                      </a:rPr>
                      <m:t>«100</m:t>
                    </m:r>
                    <m:r>
                      <m:rPr>
                        <m:nor/>
                      </m:rPr>
                      <a:rPr lang="ru-RU" sz="160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ru-RU" sz="1600">
                        <a:latin typeface="Cambria Math" panose="02040503050406030204" pitchFamily="18" charset="0"/>
                      </a:rPr>
                      <m:t>» (1 −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հարաբերակցություն</m:t>
                    </m:r>
                    <m:r>
                      <m:rPr>
                        <m:nor/>
                      </m:rPr>
                      <a:rPr lang="ru-RU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y-AM" sz="1600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r>
                      <a:rPr lang="ru-RU" sz="1600">
                        <a:latin typeface="Cambria Math" panose="02040503050406030204" pitchFamily="18" charset="0"/>
                      </a:rPr>
                      <m:t>Սեղմման գործակից=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>
                            <a:latin typeface="Cambria Math" panose="02040503050406030204" pitchFamily="18" charset="0"/>
                          </a:rPr>
                          <m:t>Մուտքային հոսքի չափ</m:t>
                        </m:r>
                      </m:num>
                      <m:den>
                        <m:r>
                          <a:rPr lang="ru-RU" sz="1600">
                            <a:latin typeface="Cambria Math" panose="02040503050406030204" pitchFamily="18" charset="0"/>
                          </a:rPr>
                          <m:t>Ելքային հոսքի չափ</m:t>
                        </m:r>
                      </m:den>
                    </m:f>
                  </m:oMath>
                </a14:m>
                <a:endParaRPr lang="hy-AM" sz="16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r>
                      <a:rPr lang="ru-RU" sz="1600">
                        <a:latin typeface="Cambria Math" panose="02040503050406030204" pitchFamily="18" charset="0"/>
                      </a:rPr>
                      <m:t>Սեղմման </m:t>
                    </m:r>
                    <m:r>
                      <a:rPr lang="hy-AM" sz="1600">
                        <a:latin typeface="Cambria Math" panose="02040503050406030204" pitchFamily="18" charset="0"/>
                      </a:rPr>
                      <m:t>ուժգնություն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 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100</m:t>
                    </m:r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Հիմնական չափ</m:t>
                            </m:r>
                          </m:num>
                          <m:den>
                            <m:r>
                              <a:rPr lang="ru-RU" sz="1600">
                                <a:latin typeface="Cambria Math" panose="02040503050406030204" pitchFamily="18" charset="0"/>
                              </a:rPr>
                              <m:t>Սեղմված չափ</m:t>
                            </m:r>
                          </m:den>
                        </m:f>
                      </m:e>
                    </m:func>
                  </m:oMath>
                </a14:m>
                <a:endParaRPr lang="en-US" sz="1600" dirty="0">
                  <a:solidFill>
                    <a:srgbClr val="000000"/>
                  </a:solidFill>
                  <a:latin typeface="Sylfaen" panose="010A0502050306030303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916246-DDFC-0C9C-CD71-9BA860F7B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412" y="3733038"/>
                <a:ext cx="5926795" cy="2868991"/>
              </a:xfrm>
              <a:prstGeom prst="rect">
                <a:avLst/>
              </a:prstGeom>
              <a:blipFill>
                <a:blip r:embed="rId4"/>
                <a:stretch>
                  <a:fillRect l="-1132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9B8A26-A237-93EE-FFB8-5B62653B2B57}"/>
              </a:ext>
            </a:extLst>
          </p:cNvPr>
          <p:cNvSpPr txBox="1"/>
          <p:nvPr/>
        </p:nvSpPr>
        <p:spPr>
          <a:xfrm>
            <a:off x="3044190" y="312996"/>
            <a:ext cx="6103620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Տվյալների սեղմում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DA8E933-8E07-07C6-F9D7-6B470941EA70}"/>
              </a:ext>
            </a:extLst>
          </p:cNvPr>
          <p:cNvSpPr/>
          <p:nvPr/>
        </p:nvSpPr>
        <p:spPr>
          <a:xfrm>
            <a:off x="1868259" y="1774927"/>
            <a:ext cx="777240" cy="976076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1030EF28-3F67-596B-95F6-C85B6508EB1E}"/>
              </a:ext>
            </a:extLst>
          </p:cNvPr>
          <p:cNvSpPr/>
          <p:nvPr/>
        </p:nvSpPr>
        <p:spPr>
          <a:xfrm>
            <a:off x="4941492" y="3535201"/>
            <a:ext cx="777240" cy="395673"/>
          </a:xfrm>
          <a:prstGeom prst="ca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26B269AF-29A2-7383-497F-FA00ADAF915A}"/>
              </a:ext>
            </a:extLst>
          </p:cNvPr>
          <p:cNvCxnSpPr>
            <a:cxnSpLocks/>
          </p:cNvCxnSpPr>
          <p:nvPr/>
        </p:nvCxnSpPr>
        <p:spPr>
          <a:xfrm>
            <a:off x="2721699" y="2222983"/>
            <a:ext cx="618744" cy="557784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B479A9D0-4B1C-CCFE-7A3C-A79173F9E3EB}"/>
              </a:ext>
            </a:extLst>
          </p:cNvPr>
          <p:cNvCxnSpPr>
            <a:cxnSpLocks/>
          </p:cNvCxnSpPr>
          <p:nvPr/>
        </p:nvCxnSpPr>
        <p:spPr>
          <a:xfrm>
            <a:off x="4234323" y="3091395"/>
            <a:ext cx="618744" cy="557784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DA5F69D5-4219-0A4F-DD05-BA7C2E816B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97054" y="3813440"/>
            <a:ext cx="764059" cy="263794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64179A6-AF60-835B-10E8-3FCB08A5CBF6}"/>
              </a:ext>
            </a:extLst>
          </p:cNvPr>
          <p:cNvCxnSpPr>
            <a:cxnSpLocks/>
          </p:cNvCxnSpPr>
          <p:nvPr/>
        </p:nvCxnSpPr>
        <p:spPr>
          <a:xfrm rot="6900000">
            <a:off x="2400467" y="4204158"/>
            <a:ext cx="699516" cy="658368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85E4CE-6338-2AE5-D317-3228F1CC00C5}"/>
              </a:ext>
            </a:extLst>
          </p:cNvPr>
          <p:cNvSpPr txBox="1"/>
          <p:nvPr/>
        </p:nvSpPr>
        <p:spPr>
          <a:xfrm>
            <a:off x="1532206" y="1116559"/>
            <a:ext cx="150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dirty="0">
                <a:latin typeface="Sylfaen" panose="010A0502050306030303" pitchFamily="18" charset="0"/>
              </a:rPr>
              <a:t>Սկզբնական տվյալներ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4BBEE-93CD-4F4C-D5CB-BCE4BB3C82C8}"/>
              </a:ext>
            </a:extLst>
          </p:cNvPr>
          <p:cNvSpPr txBox="1"/>
          <p:nvPr/>
        </p:nvSpPr>
        <p:spPr>
          <a:xfrm>
            <a:off x="3143389" y="2241060"/>
            <a:ext cx="150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dirty="0">
                <a:latin typeface="Sylfaen" panose="010A0502050306030303" pitchFamily="18" charset="0"/>
              </a:rPr>
              <a:t>Սեղմիչ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167578-800E-DBB2-A08F-23CD0422EEF4}"/>
              </a:ext>
            </a:extLst>
          </p:cNvPr>
          <p:cNvSpPr txBox="1"/>
          <p:nvPr/>
        </p:nvSpPr>
        <p:spPr>
          <a:xfrm>
            <a:off x="4675652" y="2801796"/>
            <a:ext cx="150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dirty="0">
                <a:latin typeface="Sylfaen" panose="010A0502050306030303" pitchFamily="18" charset="0"/>
              </a:rPr>
              <a:t>Սեղմված տվյալներ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784D09-4EC1-EE70-4BF9-27839EB347DA}"/>
              </a:ext>
            </a:extLst>
          </p:cNvPr>
          <p:cNvSpPr txBox="1"/>
          <p:nvPr/>
        </p:nvSpPr>
        <p:spPr>
          <a:xfrm>
            <a:off x="3040966" y="4635770"/>
            <a:ext cx="150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dirty="0">
                <a:latin typeface="Sylfaen" panose="010A0502050306030303" pitchFamily="18" charset="0"/>
              </a:rPr>
              <a:t>Հետսեղմիչ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194FC5-0E2A-433C-3335-7B2628774581}"/>
              </a:ext>
            </a:extLst>
          </p:cNvPr>
          <p:cNvSpPr txBox="1"/>
          <p:nvPr/>
        </p:nvSpPr>
        <p:spPr>
          <a:xfrm>
            <a:off x="1402688" y="5741441"/>
            <a:ext cx="2113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dirty="0">
                <a:latin typeface="Sylfaen" panose="010A0502050306030303" pitchFamily="18" charset="0"/>
              </a:rPr>
              <a:t>Վերականգնված տվյալներ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EE42A9-2EF1-AB42-6E13-818B84D52614}"/>
              </a:ext>
            </a:extLst>
          </p:cNvPr>
          <p:cNvSpPr/>
          <p:nvPr/>
        </p:nvSpPr>
        <p:spPr>
          <a:xfrm>
            <a:off x="7875270" y="1380958"/>
            <a:ext cx="2362200" cy="603499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Տվյալների սեղմման մեթոդներ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A9D44D-9140-0AE8-E9DE-E4E7573D0CE8}"/>
              </a:ext>
            </a:extLst>
          </p:cNvPr>
          <p:cNvCxnSpPr>
            <a:cxnSpLocks/>
          </p:cNvCxnSpPr>
          <p:nvPr/>
        </p:nvCxnSpPr>
        <p:spPr>
          <a:xfrm flipH="1">
            <a:off x="8280654" y="1984457"/>
            <a:ext cx="502920" cy="543073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F78E095-66DA-EFD5-5C5E-66209851FBD4}"/>
              </a:ext>
            </a:extLst>
          </p:cNvPr>
          <p:cNvSpPr/>
          <p:nvPr/>
        </p:nvSpPr>
        <p:spPr>
          <a:xfrm>
            <a:off x="7223760" y="2557247"/>
            <a:ext cx="1832610" cy="492781"/>
          </a:xfrm>
          <a:prstGeom prst="round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Կորստային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3E95C8-EC48-9A3A-B882-40E162C07117}"/>
              </a:ext>
            </a:extLst>
          </p:cNvPr>
          <p:cNvCxnSpPr>
            <a:cxnSpLocks/>
          </p:cNvCxnSpPr>
          <p:nvPr/>
        </p:nvCxnSpPr>
        <p:spPr>
          <a:xfrm>
            <a:off x="9478518" y="1984457"/>
            <a:ext cx="515874" cy="5161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9E8603A-93D8-7050-6F3B-99046A363D14}"/>
              </a:ext>
            </a:extLst>
          </p:cNvPr>
          <p:cNvSpPr/>
          <p:nvPr/>
        </p:nvSpPr>
        <p:spPr>
          <a:xfrm>
            <a:off x="9321165" y="2557246"/>
            <a:ext cx="1832610" cy="49278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Անկորուստ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B3207FC4-ECE1-4EA9-F033-F8D64A45FBA9}"/>
              </a:ext>
            </a:extLst>
          </p:cNvPr>
          <p:cNvSpPr/>
          <p:nvPr/>
        </p:nvSpPr>
        <p:spPr>
          <a:xfrm>
            <a:off x="1868259" y="4749713"/>
            <a:ext cx="777240" cy="976076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descr="Continuous Improvement outline">
            <a:extLst>
              <a:ext uri="{FF2B5EF4-FFF2-40B4-BE49-F238E27FC236}">
                <a16:creationId xmlns:a16="http://schemas.microsoft.com/office/drawing/2014/main" id="{4A9173A2-9D56-EC4F-A967-DE05A59FF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6305" y="2437738"/>
            <a:ext cx="1090934" cy="1090934"/>
          </a:xfrm>
          <a:prstGeom prst="rect">
            <a:avLst/>
          </a:prstGeom>
        </p:spPr>
      </p:pic>
      <p:pic>
        <p:nvPicPr>
          <p:cNvPr id="29" name="Graphic 28" descr="Continuous Improvement outline">
            <a:extLst>
              <a:ext uri="{FF2B5EF4-FFF2-40B4-BE49-F238E27FC236}">
                <a16:creationId xmlns:a16="http://schemas.microsoft.com/office/drawing/2014/main" id="{B0C9ABEC-1E44-C074-A9B4-8A3A4AF10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143389" y="3673203"/>
            <a:ext cx="1090934" cy="109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16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9B834-40A6-59EA-9914-0283D801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CA4DD5-27BD-B2AB-5957-4303FDDA5D0A}"/>
                  </a:ext>
                </a:extLst>
              </p:cNvPr>
              <p:cNvSpPr txBox="1"/>
              <p:nvPr/>
            </p:nvSpPr>
            <p:spPr>
              <a:xfrm>
                <a:off x="2377758" y="3547157"/>
                <a:ext cx="9814242" cy="3310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Եթե </a:t>
                </a:r>
                <a14:m>
                  <m:oMath xmlns:m="http://schemas.openxmlformats.org/officeDocument/2006/math">
                    <m:r>
                      <a:rPr lang="hy-AM" sz="1600" i="1" kern="0">
                        <a:solidFill>
                          <a:schemeClr val="tx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hy-AM" sz="1600" i="1" kern="0">
                        <a:solidFill>
                          <a:schemeClr val="tx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hy-AM" sz="1600" i="1" kern="0">
                        <a:solidFill>
                          <a:schemeClr val="tx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hy-AM" sz="1600" i="1" kern="0">
                        <a:solidFill>
                          <a:schemeClr val="tx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 ֆունկցիան բավարարում է Դիրիխլեի պայմաններին, այսինքն՝</a:t>
                </a: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սահմանափակ է,</a:t>
                </a:r>
                <a:endParaRPr lang="hy-AM" sz="1600" kern="100" dirty="0">
                  <a:solidFill>
                    <a:schemeClr val="tx1">
                      <a:lumMod val="75000"/>
                    </a:schemeClr>
                  </a:solidFill>
                  <a:latin typeface="Sylfaen" panose="010A0502050306030303" pitchFamily="18" charset="0"/>
                  <a:ea typeface="Calibri" panose="020F0502020204030204" pitchFamily="34" charset="0"/>
                  <a:cs typeface="Arabic Typesetting" panose="020F0502020204030204" pitchFamily="66" charset="-78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կտոր առ կտոր անընդհատ է,</a:t>
                </a:r>
                <a:endParaRPr lang="hy-AM" sz="1600" kern="100" dirty="0">
                  <a:solidFill>
                    <a:schemeClr val="tx1">
                      <a:lumMod val="75000"/>
                    </a:schemeClr>
                  </a:solidFill>
                  <a:latin typeface="Sylfaen" panose="010A0502050306030303" pitchFamily="18" charset="0"/>
                  <a:ea typeface="Calibri" panose="020F0502020204030204" pitchFamily="34" charset="0"/>
                  <a:cs typeface="Arabic Typesetting" panose="020F0502020204030204" pitchFamily="66" charset="-78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ունի վերջավոր քանակությամբ էքստրեմումներ, </a:t>
                </a: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նրա սպեկտրը սահմանափակված 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y-AM" sz="1600" i="1" kern="0">
                            <a:solidFill>
                              <a:schemeClr val="tx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hy-AM" sz="1600" i="1" kern="0">
                            <a:solidFill>
                              <a:schemeClr val="tx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hy-AM" sz="1600" i="1" kern="0">
                            <a:solidFill>
                              <a:schemeClr val="tx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 հաճախականությամբ</a:t>
                </a:r>
                <a:r>
                  <a:rPr lang="en-US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,</a:t>
                </a:r>
                <a:endParaRPr lang="hy-AM" sz="1600" kern="0" dirty="0">
                  <a:solidFill>
                    <a:schemeClr val="tx1">
                      <a:lumMod val="75000"/>
                    </a:schemeClr>
                  </a:solidFill>
                  <a:latin typeface="Sylfaen" panose="010A0502050306030303" pitchFamily="18" charset="0"/>
                  <a:ea typeface="Times New Roman" panose="02020603050405020304" pitchFamily="18" charset="0"/>
                  <a:cs typeface="Arabic Typesetting" panose="020F0502020204030204" pitchFamily="66" charset="-78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ապա դիսկրետացման քայլերի միջև գոյություն ունի այնպիսի </a:t>
                </a:r>
                <a14:m>
                  <m:oMath xmlns:m="http://schemas.openxmlformats.org/officeDocument/2006/math">
                    <m:r>
                      <a:rPr lang="hy-AM" sz="1600" i="1" kern="0">
                        <a:solidFill>
                          <a:schemeClr val="tx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T միջակայք, որի դեպքում հնարավոր է դիսկրետացման քայլերի միջոցով անսխալ վերականգնել </a:t>
                </a:r>
                <a14:m>
                  <m:oMath xmlns:m="http://schemas.openxmlformats.org/officeDocument/2006/math">
                    <m:r>
                      <a:rPr lang="hy-AM" sz="1600" i="1" kern="0">
                        <a:solidFill>
                          <a:schemeClr val="tx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hy-AM" sz="1600" i="1" kern="0">
                            <a:solidFill>
                              <a:schemeClr val="tx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hy-AM" sz="1600" i="1" kern="0">
                            <a:solidFill>
                              <a:schemeClr val="tx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ֆունկցիան: Առավելագույն միջակայքը </a:t>
                </a:r>
                <a:endParaRPr lang="hy-AM" sz="1600" kern="100" dirty="0">
                  <a:solidFill>
                    <a:schemeClr val="tx1">
                      <a:lumMod val="75000"/>
                    </a:schemeClr>
                  </a:solidFill>
                  <a:latin typeface="Sylfaen" panose="010A0502050306030303" pitchFamily="18" charset="0"/>
                  <a:ea typeface="Calibri" panose="020F0502020204030204" pitchFamily="34" charset="0"/>
                  <a:cs typeface="Arabic Typesetting" panose="020F0502020204030204" pitchFamily="66" charset="-78"/>
                </a:endParaRPr>
              </a:p>
              <a:p>
                <a:pPr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y-AM" sz="1600" ker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ΔT</m:t>
                      </m:r>
                      <m:r>
                        <a:rPr lang="hy-AM" sz="1600" ker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hy-AM" sz="1600" i="1" kern="0">
                              <a:solidFill>
                                <a:schemeClr val="tx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hy-AM" sz="1600" i="1" kern="0">
                              <a:solidFill>
                                <a:schemeClr val="tx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hy-AM" sz="1600" i="1" kern="0">
                                  <a:solidFill>
                                    <a:schemeClr val="tx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1600" i="1" kern="0">
                                  <a:solidFill>
                                    <a:schemeClr val="tx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hy-AM" sz="1600" i="1" kern="0">
                                  <a:solidFill>
                                    <a:schemeClr val="tx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hy-AM" sz="1600" i="1" ker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hy-AM" sz="1600" i="1" kern="0">
                              <a:solidFill>
                                <a:schemeClr val="tx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hy-AM" sz="1600" i="1" kern="0">
                              <a:solidFill>
                                <a:schemeClr val="tx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hy-AM" sz="1600" i="1" kern="0">
                                  <a:solidFill>
                                    <a:schemeClr val="tx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1600" i="1" kern="0">
                                  <a:solidFill>
                                    <a:schemeClr val="tx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hy-AM" sz="1600" i="1" kern="0">
                                  <a:solidFill>
                                    <a:schemeClr val="tx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hy-AM" sz="1600" i="1" kern="0">
                                  <a:solidFill>
                                    <a:schemeClr val="tx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kern="0" dirty="0">
                  <a:solidFill>
                    <a:schemeClr val="tx1">
                      <a:lumMod val="75000"/>
                    </a:schemeClr>
                  </a:solidFill>
                  <a:latin typeface="Sylfaen" panose="010A0502050306030303" pitchFamily="18" charset="0"/>
                  <a:ea typeface="Times New Roman" panose="02020603050405020304" pitchFamily="18" charset="0"/>
                  <a:cs typeface="Arabic Typesetting" panose="020F0502020204030204" pitchFamily="66" charset="-78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CA4DD5-27BD-B2AB-5957-4303FDDA5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758" y="3547157"/>
                <a:ext cx="9814242" cy="3310843"/>
              </a:xfrm>
              <a:prstGeom prst="rect">
                <a:avLst/>
              </a:prstGeom>
              <a:blipFill>
                <a:blip r:embed="rId4"/>
                <a:stretch>
                  <a:fillRect l="-311" t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620E7F8-A865-61F0-2990-6D0792A443FC}"/>
              </a:ext>
            </a:extLst>
          </p:cNvPr>
          <p:cNvSpPr txBox="1"/>
          <p:nvPr/>
        </p:nvSpPr>
        <p:spPr>
          <a:xfrm>
            <a:off x="3044190" y="312996"/>
            <a:ext cx="6103620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Թվային ձայն</a:t>
            </a:r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E7E3C5B1-42B4-8816-0801-F94BF7843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429" y="1685729"/>
            <a:ext cx="5470628" cy="13850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33294A-411E-F236-5AB2-28336491235D}"/>
              </a:ext>
            </a:extLst>
          </p:cNvPr>
          <p:cNvSpPr txBox="1"/>
          <p:nvPr/>
        </p:nvSpPr>
        <p:spPr>
          <a:xfrm>
            <a:off x="1987866" y="1166128"/>
            <a:ext cx="4304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>
                <a:latin typeface="Sylfaen" panose="010A0502050306030303" pitchFamily="18" charset="0"/>
              </a:rPr>
              <a:t>Ձայնային ազդանշանի դիսկրետացում</a:t>
            </a:r>
            <a:endParaRPr lang="en-US" b="1" dirty="0">
              <a:latin typeface="Sylfaen" panose="010A05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AA1A80-D46D-970E-DF0D-EF20AFA77F48}"/>
                  </a:ext>
                </a:extLst>
              </p:cNvPr>
              <p:cNvSpPr txBox="1"/>
              <p:nvPr/>
            </p:nvSpPr>
            <p:spPr>
              <a:xfrm>
                <a:off x="7587618" y="1166128"/>
                <a:ext cx="4535343" cy="1904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600" dirty="0">
                    <a:effectLst/>
                    <a:latin typeface="Sylfaen" panose="010A050205030603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Դիսկրետացման քայլի, այսինքն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ru-RU" sz="1600" dirty="0">
                    <a:effectLst/>
                    <a:latin typeface="Sylfaen" panose="010A050205030603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T-ի ընտրությունը, երբ x(t) ազդանշանի սպեկտրը սահմանափակ է, հնարավոր է իրականացնել Կոտելնիկով - Նայքվիստի թեորեմի հիման վրա</a:t>
                </a:r>
                <a:r>
                  <a:rPr lang="en-US" sz="1600" dirty="0">
                    <a:effectLst/>
                    <a:latin typeface="Sylfaen" panose="010A050205030603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u-RU" sz="1600" dirty="0">
                    <a:effectLst/>
                    <a:latin typeface="Sylfaen" panose="010A050205030603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dirty="0">
                  <a:latin typeface="Sylfaen" panose="010A0502050306030303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AA1A80-D46D-970E-DF0D-EF20AFA77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618" y="1166128"/>
                <a:ext cx="4535343" cy="1904624"/>
              </a:xfrm>
              <a:prstGeom prst="rect">
                <a:avLst/>
              </a:prstGeom>
              <a:blipFill>
                <a:blip r:embed="rId6"/>
                <a:stretch>
                  <a:fillRect l="-806" b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39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8B149-7FF6-E659-A766-E596B980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FA5F4D-C5A0-9D6E-FBE7-1E9441C69F73}"/>
              </a:ext>
            </a:extLst>
          </p:cNvPr>
          <p:cNvSpPr txBox="1"/>
          <p:nvPr/>
        </p:nvSpPr>
        <p:spPr>
          <a:xfrm>
            <a:off x="7410092" y="1298507"/>
            <a:ext cx="4382218" cy="2201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y-AM" sz="2000" b="1" dirty="0">
                <a:solidFill>
                  <a:srgbClr val="000000"/>
                </a:solidFill>
                <a:latin typeface="Sylfaen" panose="010A0502050306030303" pitchFamily="18" charset="0"/>
                <a:ea typeface="Calibri" panose="020F0502020204030204" pitchFamily="34" charset="0"/>
              </a:rPr>
              <a:t>Առավելությունները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/>
              <a:t>Պ</a:t>
            </a:r>
            <a:r>
              <a:rPr lang="ru-RU" dirty="0"/>
              <a:t>ահպանում են բնօրինակ </a:t>
            </a:r>
            <a:r>
              <a:rPr lang="hy-AM" dirty="0"/>
              <a:t>ձայնային տվյալները </a:t>
            </a:r>
            <a:r>
              <a:rPr lang="en-US" dirty="0"/>
              <a:t>(</a:t>
            </a:r>
            <a:r>
              <a:rPr lang="hy-AM" dirty="0"/>
              <a:t>չեն սեղմվում</a:t>
            </a:r>
            <a:r>
              <a:rPr lang="en-US" dirty="0"/>
              <a:t>)</a:t>
            </a:r>
            <a:endParaRPr lang="hy-AM" dirty="0"/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/>
              <a:t>Օ</a:t>
            </a:r>
            <a:r>
              <a:rPr lang="ru-RU" dirty="0"/>
              <a:t>գտագործվ</a:t>
            </a:r>
            <a:r>
              <a:rPr lang="hy-AM" dirty="0"/>
              <a:t>ում են</a:t>
            </a:r>
            <a:r>
              <a:rPr lang="ru-RU" dirty="0"/>
              <a:t> բազմաթիվ հարթակներում</a:t>
            </a:r>
            <a:endParaRPr lang="en-US" dirty="0"/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/>
              <a:t>Հ</a:t>
            </a:r>
            <a:r>
              <a:rPr lang="ru-RU" dirty="0"/>
              <a:t>եշտությամբ խմբագրելի են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1D065-1B0C-21A3-1D98-7EB5D1194692}"/>
              </a:ext>
            </a:extLst>
          </p:cNvPr>
          <p:cNvSpPr txBox="1"/>
          <p:nvPr/>
        </p:nvSpPr>
        <p:spPr>
          <a:xfrm>
            <a:off x="2923803" y="287116"/>
            <a:ext cx="7799214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 </a:t>
            </a: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ձայնային տվյալների ձևաչափ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0EE02-E8B1-AE9C-5EDE-F2CA12624F82}"/>
              </a:ext>
            </a:extLst>
          </p:cNvPr>
          <p:cNvSpPr txBox="1"/>
          <p:nvPr/>
        </p:nvSpPr>
        <p:spPr>
          <a:xfrm>
            <a:off x="1436865" y="1213237"/>
            <a:ext cx="5610916" cy="3222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000" b="1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 ֆայլի ընդհանուր նկարագրությունը</a:t>
            </a:r>
            <a:r>
              <a:rPr lang="en-US" sz="2000" b="1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&lt;WAVE-form&gt; </a:t>
            </a:r>
            <a:r>
              <a:rPr lang="en-US" sz="170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 RIFF('WAVE'</a:t>
            </a:r>
            <a:endParaRPr lang="en-US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                   &lt;format-chunk&gt;         // Format of the file</a:t>
            </a:r>
            <a:endParaRPr lang="en-US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                   [&lt;fact-chunk&gt;]           // Fact chunk</a:t>
            </a:r>
            <a:endParaRPr lang="en-US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                   [&lt;cue-chunk&gt;]           // Cue points</a:t>
            </a:r>
            <a:endParaRPr lang="en-US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                   [&lt;playlist-chunk&gt;]     // Playlist</a:t>
            </a:r>
            <a:endParaRPr lang="en-US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                   [&lt;</a:t>
            </a:r>
            <a:r>
              <a:rPr lang="en-US" sz="1700" dirty="0" err="1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assoc</a:t>
            </a: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-data-list&gt;]     // Associated data list</a:t>
            </a:r>
            <a:endParaRPr lang="en-US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700" dirty="0">
                <a:effectLst/>
                <a:latin typeface="Sylfaen" panose="010A0502050306030303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                   &lt;wave-data&gt; )           // Wave data</a:t>
            </a:r>
            <a:endParaRPr lang="en-US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3BF46-744E-5970-5B9E-EFB543FDE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71" y="5120413"/>
            <a:ext cx="7326058" cy="1552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9B390-1A8F-DEA6-F0D6-DD51BDB37050}"/>
              </a:ext>
            </a:extLst>
          </p:cNvPr>
          <p:cNvSpPr txBox="1"/>
          <p:nvPr/>
        </p:nvSpPr>
        <p:spPr>
          <a:xfrm>
            <a:off x="5713837" y="4689096"/>
            <a:ext cx="2408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 ֆայլի</a:t>
            </a:r>
            <a:r>
              <a:rPr lang="en-US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y-AM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օրինակ</a:t>
            </a:r>
            <a:r>
              <a:rPr lang="ru-RU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90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8C3A6-33A2-529F-F000-DD9892BB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F64A73-ABDF-C943-3552-5B06E81D6FC1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Պատահական մեծության երկուական էնտրոպիա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224F87-61A5-F6AE-0747-67AE695911F1}"/>
                  </a:ext>
                </a:extLst>
              </p:cNvPr>
              <p:cNvSpPr txBox="1"/>
              <p:nvPr/>
            </p:nvSpPr>
            <p:spPr>
              <a:xfrm>
                <a:off x="1463964" y="1011450"/>
                <a:ext cx="4632036" cy="178356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hy-AM" sz="1800" dirty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Ենթադրենք </a:t>
                </a:r>
                <a14:m>
                  <m:oMath xmlns:m="http://schemas.openxmlformats.org/officeDocument/2006/math"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r>
                  <a:rPr lang="hy-AM" sz="1800" dirty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պատահական մեծությունն ընդունում 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․․․,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y-AM" sz="1800" dirty="0">
                    <a:effectLst/>
                    <a:latin typeface="Sylfaen" panose="010A050205030603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արժեքները համապատասխանաբար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․․․,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hy-AM" sz="1800" dirty="0">
                    <a:effectLst/>
                    <a:latin typeface="Sylfaen" panose="010A050205030603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hy-AM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hy-AM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nary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)</m:t>
                    </m:r>
                  </m:oMath>
                </a14:m>
                <a:r>
                  <a:rPr lang="hy-AM" sz="1800" dirty="0">
                    <a:effectLst/>
                    <a:latin typeface="Sylfaen" panose="010A050205030603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հավանականություններով։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224F87-61A5-F6AE-0747-67AE6959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964" y="1011450"/>
                <a:ext cx="4632036" cy="1783565"/>
              </a:xfrm>
              <a:prstGeom prst="rect">
                <a:avLst/>
              </a:prstGeom>
              <a:blipFill>
                <a:blip r:embed="rId3"/>
                <a:stretch>
                  <a:fillRect l="-4980" b="-352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B9C2FF-8FCA-EC27-E5F2-76BF00BF6D72}"/>
                  </a:ext>
                </a:extLst>
              </p:cNvPr>
              <p:cNvSpPr txBox="1"/>
              <p:nvPr/>
            </p:nvSpPr>
            <p:spPr>
              <a:xfrm>
                <a:off x="6916643" y="1978756"/>
                <a:ext cx="4832534" cy="180504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hy-AM" sz="1800" dirty="0">
                    <a:effectLst/>
                    <a:latin typeface="Sylfaen" panose="010A050205030603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r>
                  <a:rPr lang="hy-AM" sz="1800" dirty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պատահական մեծության երկուական էնտրոպիա է կոչվում հետևյալ մեծությունը</a:t>
                </a:r>
                <a:r>
                  <a:rPr lang="hy-AM" sz="1800" dirty="0">
                    <a:effectLst/>
                    <a:latin typeface="MS Mincho" panose="02020609040205080304" pitchFamily="49" charset="-128"/>
                    <a:ea typeface="Calibri" panose="020F0502020204030204" pitchFamily="34" charset="0"/>
                    <a:cs typeface="MS Mincho" panose="02020609040205080304" pitchFamily="49" charset="-128"/>
                  </a:rPr>
                  <a:t>․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y-AM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MS Mincho" panose="02020609040205080304" pitchFamily="49" charset="-128"/>
                        </a:rPr>
                        <m:t>𝐻</m:t>
                      </m:r>
                      <m:r>
                        <a:rPr lang="hy-AM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MS Mincho" panose="02020609040205080304" pitchFamily="49" charset="-128"/>
                        </a:rPr>
                        <m:t> 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MS Mincho" panose="02020609040205080304" pitchFamily="49" charset="-128"/>
                            </a:rPr>
                          </m:ctrlPr>
                        </m:dPr>
                        <m:e>
                          <m:r>
                            <a:rPr lang="hy-AM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</m:d>
                      <m:r>
                        <a:rPr lang="hy-AM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hy-AM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hy-AM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hy-AM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hy-AM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hy-AM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hy-AM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hy-AM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hy-AM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hy-AM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B9C2FF-8FCA-EC27-E5F2-76BF00BF6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643" y="1978756"/>
                <a:ext cx="4832534" cy="1805046"/>
              </a:xfrm>
              <a:prstGeom prst="rect">
                <a:avLst/>
              </a:prstGeom>
              <a:blipFill>
                <a:blip r:embed="rId4"/>
                <a:stretch>
                  <a:fillRect l="-1006" r="-88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BA59DE27-6E3A-883D-4CCB-F9ECBB9ABB5A}"/>
              </a:ext>
            </a:extLst>
          </p:cNvPr>
          <p:cNvSpPr/>
          <p:nvPr/>
        </p:nvSpPr>
        <p:spPr>
          <a:xfrm>
            <a:off x="6206140" y="2462130"/>
            <a:ext cx="600363" cy="43410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C9D04E-6379-7B51-A0BE-F11BBA81BF7C}"/>
                  </a:ext>
                </a:extLst>
              </p:cNvPr>
              <p:cNvSpPr txBox="1"/>
              <p:nvPr/>
            </p:nvSpPr>
            <p:spPr>
              <a:xfrm>
                <a:off x="1707901" y="3441940"/>
                <a:ext cx="10484099" cy="3173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y-AM" sz="1600" kern="0" dirty="0">
                    <a:solidFill>
                      <a:schemeClr val="tx1">
                        <a:lumMod val="75000"/>
                      </a:schemeClr>
                    </a:solidFill>
                    <a:latin typeface="Sylfaen" panose="010A0502050306030303" pitchFamily="18" charset="0"/>
                    <a:ea typeface="Times New Roman" panose="02020603050405020304" pitchFamily="18" charset="0"/>
                    <a:cs typeface="Arabic Typesetting" panose="020F0502020204030204" pitchFamily="66" charset="-78"/>
                  </a:rPr>
                  <a:t>Էնտրոպիան․</a:t>
                </a: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</a:buBlip>
                </a:pPr>
                <a:r>
                  <a:rPr lang="hy-AM" sz="1600" dirty="0"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արտահայտում է իրավիճակի անորոշության չափը</a:t>
                </a:r>
                <a:r>
                  <a:rPr lang="en-US" sz="1600" dirty="0"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endParaRPr lang="hy-AM" sz="1600" dirty="0"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</a:buBlip>
                </a:pPr>
                <a:r>
                  <a:rPr lang="hy-AM" sz="1600" dirty="0">
                    <a:latin typeface="Sylfaen" panose="010A0502050306030303" pitchFamily="18" charset="0"/>
                  </a:rPr>
                  <a:t>պատահական մեծության ցրվածության չափն է</a:t>
                </a:r>
                <a:r>
                  <a:rPr lang="en-US" sz="1600" dirty="0">
                    <a:latin typeface="Sylfaen" panose="010A0502050306030303" pitchFamily="18" charset="0"/>
                  </a:rPr>
                  <a:t>,</a:t>
                </a:r>
                <a:endParaRPr lang="hy-AM" sz="1600" dirty="0">
                  <a:latin typeface="Sylfaen" panose="010A0502050306030303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</a:buBlip>
                </a:pPr>
                <a:r>
                  <a:rPr lang="hy-AM" sz="1600" dirty="0">
                    <a:latin typeface="Sylfaen" panose="010A0502050306030303" pitchFamily="18" charset="0"/>
                  </a:rPr>
                  <a:t>կախված չէ պատահական մեծության բաշխման տեսակից</a:t>
                </a:r>
                <a:r>
                  <a:rPr lang="en-US" sz="1600" dirty="0">
                    <a:latin typeface="Sylfaen" panose="010A0502050306030303" pitchFamily="18" charset="0"/>
                  </a:rPr>
                  <a:t>,</a:t>
                </a:r>
                <a:endParaRPr lang="hy-AM" sz="1600" dirty="0">
                  <a:latin typeface="Sylfaen" panose="010A0502050306030303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</a:buBlip>
                </a:pPr>
                <a:r>
                  <a:rPr lang="hy-AM" sz="1600" dirty="0">
                    <a:latin typeface="Sylfaen" panose="010A0502050306030303" pitchFamily="18" charset="0"/>
                  </a:rPr>
                  <a:t>ոչ բացասական մեծություն է</a:t>
                </a:r>
                <a:r>
                  <a:rPr lang="en-US" sz="1600" dirty="0">
                    <a:latin typeface="Sylfaen" panose="010A0502050306030303" pitchFamily="18" charset="0"/>
                  </a:rPr>
                  <a:t>,</a:t>
                </a:r>
                <a:endParaRPr lang="hy-AM" sz="1600" dirty="0">
                  <a:latin typeface="Sylfaen" panose="010A0502050306030303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</a:buBlip>
                </a:pPr>
                <a:r>
                  <a:rPr lang="hy-AM" sz="1600" dirty="0">
                    <a:latin typeface="Sylfaen" panose="010A0502050306030303" pitchFamily="18" charset="0"/>
                  </a:rPr>
                  <a:t>սահմանափակ մեծություն է</a:t>
                </a:r>
                <a:r>
                  <a:rPr lang="en-US" sz="1600" dirty="0">
                    <a:latin typeface="Sylfaen" panose="010A0502050306030303" pitchFamily="18" charset="0"/>
                  </a:rPr>
                  <a:t>,</a:t>
                </a:r>
                <a:endParaRPr lang="hy-AM" sz="1600" dirty="0">
                  <a:latin typeface="Sylfaen" panose="010A0502050306030303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</a:buBlip>
                </a:pPr>
                <a:r>
                  <a:rPr lang="hy-AM" sz="1600" dirty="0">
                    <a:latin typeface="Sylfaen" panose="010A0502050306030303" pitchFamily="18" charset="0"/>
                  </a:rPr>
                  <a:t>հավասար է 0-ի միայն այն դեպքում, երբ պատահական մեծությունն ընդունում է արժեքներից մեկը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hy-AM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hy-AM" sz="1600" dirty="0">
                    <a:latin typeface="Sylfaen" panose="010A0502050306030303" pitchFamily="18" charset="0"/>
                  </a:rPr>
                  <a:t> հավանականությամբ</a:t>
                </a:r>
                <a:r>
                  <a:rPr lang="en-US" sz="1600" dirty="0">
                    <a:latin typeface="Sylfaen" panose="010A0502050306030303" pitchFamily="18" charset="0"/>
                  </a:rPr>
                  <a:t>,</a:t>
                </a:r>
                <a:endParaRPr lang="hy-AM" sz="1600" dirty="0">
                  <a:latin typeface="Sylfaen" panose="010A0502050306030303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</a:buBlip>
                </a:pPr>
                <a:r>
                  <a:rPr lang="hy-AM" sz="1600" dirty="0">
                    <a:latin typeface="Sylfaen" panose="010A0502050306030303" pitchFamily="18" charset="0"/>
                  </a:rPr>
                  <a:t>ընդունում է իր մեծագույն արժեքը, երբ պատահական մեծության բոլոր ելքերը հավասարահնարավոր են</a:t>
                </a:r>
                <a:r>
                  <a:rPr lang="en-US" sz="1600" dirty="0">
                    <a:latin typeface="Sylfaen" panose="010A0502050306030303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C9D04E-6379-7B51-A0BE-F11BBA81B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901" y="3441940"/>
                <a:ext cx="10484099" cy="3173818"/>
              </a:xfrm>
              <a:prstGeom prst="rect">
                <a:avLst/>
              </a:prstGeom>
              <a:blipFill>
                <a:blip r:embed="rId6"/>
                <a:stretch>
                  <a:fillRect l="-291" t="-962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780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8A62C-8B7E-CFA0-9B44-5C82A6DC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D96D9B-371F-7368-FB99-2365D9B367E6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Zstd</a:t>
            </a:r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սեղմման ալգորիթմ</a:t>
            </a: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3FDF8623-4509-5051-C2AA-ADE98028EA19}"/>
              </a:ext>
            </a:extLst>
          </p:cNvPr>
          <p:cNvSpPr/>
          <p:nvPr/>
        </p:nvSpPr>
        <p:spPr>
          <a:xfrm>
            <a:off x="4037350" y="2408922"/>
            <a:ext cx="3936704" cy="1211381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b="1" dirty="0">
                <a:solidFill>
                  <a:schemeClr val="tx1"/>
                </a:solidFill>
                <a:latin typeface="Sylfaen" panose="010A0502050306030303" pitchFamily="18" charset="0"/>
              </a:rPr>
              <a:t>Փուլ</a:t>
            </a:r>
            <a:r>
              <a:rPr lang="en-US" b="1" dirty="0">
                <a:solidFill>
                  <a:schemeClr val="tx1"/>
                </a:solidFill>
                <a:latin typeface="Sylfaen" panose="010A0502050306030303" pitchFamily="18" charset="0"/>
              </a:rPr>
              <a:t> 1</a:t>
            </a:r>
          </a:p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Կրկնվող օրինաչափությունների որոնում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48705847-00CD-2DEA-68A8-A1A6753A3FA1}"/>
              </a:ext>
            </a:extLst>
          </p:cNvPr>
          <p:cNvSpPr/>
          <p:nvPr/>
        </p:nvSpPr>
        <p:spPr>
          <a:xfrm>
            <a:off x="4022069" y="3956442"/>
            <a:ext cx="3936705" cy="1211381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b="1" dirty="0">
                <a:solidFill>
                  <a:schemeClr val="tx1"/>
                </a:solidFill>
                <a:latin typeface="Sylfaen" panose="010A0502050306030303" pitchFamily="18" charset="0"/>
              </a:rPr>
              <a:t>Փուլ</a:t>
            </a:r>
            <a:r>
              <a:rPr lang="en-US" b="1" dirty="0">
                <a:solidFill>
                  <a:schemeClr val="tx1"/>
                </a:solidFill>
                <a:latin typeface="Sylfaen" panose="010A0502050306030303" pitchFamily="18" charset="0"/>
              </a:rPr>
              <a:t> 2</a:t>
            </a:r>
          </a:p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Վիճակագրական սեղմման համար էնտրոպիայի կոդավորում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0AA65F-2681-5D53-EB0A-0989AFC097F2}"/>
              </a:ext>
            </a:extLst>
          </p:cNvPr>
          <p:cNvSpPr/>
          <p:nvPr/>
        </p:nvSpPr>
        <p:spPr>
          <a:xfrm>
            <a:off x="4908415" y="1048895"/>
            <a:ext cx="2194575" cy="86819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Սկզբնական տվյալներ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2EB760A8-1DF2-54FC-35D4-87A82314576A}"/>
              </a:ext>
            </a:extLst>
          </p:cNvPr>
          <p:cNvSpPr/>
          <p:nvPr/>
        </p:nvSpPr>
        <p:spPr>
          <a:xfrm rot="5400000">
            <a:off x="5788397" y="2030165"/>
            <a:ext cx="398584" cy="28112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2D3948F-C17E-051F-2477-FDAB557E227A}"/>
              </a:ext>
            </a:extLst>
          </p:cNvPr>
          <p:cNvSpPr/>
          <p:nvPr/>
        </p:nvSpPr>
        <p:spPr>
          <a:xfrm>
            <a:off x="4890401" y="5643410"/>
            <a:ext cx="2194575" cy="8681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Սեղմված տվյալներ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19CE5AD1-1478-180F-FA46-0426E2BD6D6B}"/>
              </a:ext>
            </a:extLst>
          </p:cNvPr>
          <p:cNvSpPr/>
          <p:nvPr/>
        </p:nvSpPr>
        <p:spPr>
          <a:xfrm rot="5400000">
            <a:off x="5788397" y="3637751"/>
            <a:ext cx="398584" cy="28112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4A5A37F1-ADDF-1555-F74F-4DF2C03077B8}"/>
              </a:ext>
            </a:extLst>
          </p:cNvPr>
          <p:cNvSpPr/>
          <p:nvPr/>
        </p:nvSpPr>
        <p:spPr>
          <a:xfrm rot="5400000">
            <a:off x="5806410" y="5265055"/>
            <a:ext cx="398584" cy="28112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C980C4-0062-02D4-D32F-06917D7A80BC}"/>
              </a:ext>
            </a:extLst>
          </p:cNvPr>
          <p:cNvSpPr txBox="1"/>
          <p:nvPr/>
        </p:nvSpPr>
        <p:spPr>
          <a:xfrm>
            <a:off x="1621493" y="1300665"/>
            <a:ext cx="309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/>
              <a:t>Մեծ մասշտաբայնություն</a:t>
            </a:r>
            <a:endParaRPr lang="en-US" dirty="0"/>
          </a:p>
        </p:txBody>
      </p:sp>
      <p:pic>
        <p:nvPicPr>
          <p:cNvPr id="31" name="Graphic 30" descr="Checkbox Checked with solid fill">
            <a:extLst>
              <a:ext uri="{FF2B5EF4-FFF2-40B4-BE49-F238E27FC236}">
                <a16:creationId xmlns:a16="http://schemas.microsoft.com/office/drawing/2014/main" id="{6FABFDC3-4143-18C2-A940-E337E430F7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6995" y="1268233"/>
            <a:ext cx="429337" cy="429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8262BF-6AF6-074D-A8F8-178C07E4AF28}"/>
              </a:ext>
            </a:extLst>
          </p:cNvPr>
          <p:cNvSpPr txBox="1"/>
          <p:nvPr/>
        </p:nvSpPr>
        <p:spPr>
          <a:xfrm>
            <a:off x="1621493" y="1661330"/>
            <a:ext cx="309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/>
              <a:t>Արագագործություն</a:t>
            </a:r>
            <a:endParaRPr lang="en-US" dirty="0"/>
          </a:p>
        </p:txBody>
      </p:sp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A71E4C89-FB73-2CB2-9134-698CA262A7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6995" y="1628898"/>
            <a:ext cx="429337" cy="429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2203F7-FD40-3D5B-3B3B-60C8B01E538B}"/>
              </a:ext>
            </a:extLst>
          </p:cNvPr>
          <p:cNvSpPr txBox="1"/>
          <p:nvPr/>
        </p:nvSpPr>
        <p:spPr>
          <a:xfrm>
            <a:off x="1655642" y="3105834"/>
            <a:ext cx="309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/>
              <a:t>Կառուցվածքային </a:t>
            </a:r>
            <a:br>
              <a:rPr lang="hy-AM" dirty="0"/>
            </a:br>
            <a:r>
              <a:rPr lang="hy-AM" dirty="0"/>
              <a:t>խողովակաշար</a:t>
            </a:r>
            <a:endParaRPr lang="en-US" dirty="0"/>
          </a:p>
        </p:txBody>
      </p:sp>
      <p:pic>
        <p:nvPicPr>
          <p:cNvPr id="12" name="Graphic 11" descr="Checkbox Checked with solid fill">
            <a:extLst>
              <a:ext uri="{FF2B5EF4-FFF2-40B4-BE49-F238E27FC236}">
                <a16:creationId xmlns:a16="http://schemas.microsoft.com/office/drawing/2014/main" id="{FC066909-6556-E7D2-EA5C-56242DB96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6995" y="1989563"/>
            <a:ext cx="429337" cy="429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29503E-A58F-BB98-E7DE-2A8C09499C24}"/>
              </a:ext>
            </a:extLst>
          </p:cNvPr>
          <p:cNvSpPr txBox="1"/>
          <p:nvPr/>
        </p:nvSpPr>
        <p:spPr>
          <a:xfrm>
            <a:off x="1655642" y="2011726"/>
            <a:ext cx="309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/>
              <a:t>Անկորուստ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BD7D4B-9E19-C697-67FB-52CBE6F37E30}"/>
              </a:ext>
            </a:extLst>
          </p:cNvPr>
          <p:cNvSpPr txBox="1"/>
          <p:nvPr/>
        </p:nvSpPr>
        <p:spPr>
          <a:xfrm>
            <a:off x="1616656" y="2391297"/>
            <a:ext cx="309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/>
              <a:t>Արդյունավետ</a:t>
            </a:r>
            <a:endParaRPr lang="en-US" dirty="0"/>
          </a:p>
        </p:txBody>
      </p:sp>
      <p:pic>
        <p:nvPicPr>
          <p:cNvPr id="21" name="Graphic 20" descr="Checkbox Checked with solid fill">
            <a:extLst>
              <a:ext uri="{FF2B5EF4-FFF2-40B4-BE49-F238E27FC236}">
                <a16:creationId xmlns:a16="http://schemas.microsoft.com/office/drawing/2014/main" id="{294F6EF7-0ABA-AED6-0760-3B7AC5D2D5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2158" y="2358865"/>
            <a:ext cx="429337" cy="429337"/>
          </a:xfrm>
          <a:prstGeom prst="rect">
            <a:avLst/>
          </a:prstGeom>
        </p:spPr>
      </p:pic>
      <p:pic>
        <p:nvPicPr>
          <p:cNvPr id="28" name="Graphic 27" descr="Checkbox Checked with solid fill">
            <a:extLst>
              <a:ext uri="{FF2B5EF4-FFF2-40B4-BE49-F238E27FC236}">
                <a16:creationId xmlns:a16="http://schemas.microsoft.com/office/drawing/2014/main" id="{F1E2286A-F73F-AE4C-E43D-94AFE5762D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0075" y="2710893"/>
            <a:ext cx="429337" cy="429337"/>
          </a:xfrm>
          <a:prstGeom prst="rect">
            <a:avLst/>
          </a:prstGeom>
        </p:spPr>
      </p:pic>
      <p:pic>
        <p:nvPicPr>
          <p:cNvPr id="33" name="Graphic 32" descr="Checkbox Checked with solid fill">
            <a:extLst>
              <a:ext uri="{FF2B5EF4-FFF2-40B4-BE49-F238E27FC236}">
                <a16:creationId xmlns:a16="http://schemas.microsoft.com/office/drawing/2014/main" id="{EF4C0097-EB4D-B34E-39C3-043149763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6995" y="3052622"/>
            <a:ext cx="429337" cy="42933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657FAC-6E13-3BD8-7744-3DAD33F649CD}"/>
              </a:ext>
            </a:extLst>
          </p:cNvPr>
          <p:cNvSpPr txBox="1"/>
          <p:nvPr/>
        </p:nvSpPr>
        <p:spPr>
          <a:xfrm>
            <a:off x="1616656" y="2731271"/>
            <a:ext cx="309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/>
              <a:t>Արագ վերծանում</a:t>
            </a:r>
            <a:endParaRPr lang="en-US" dirty="0"/>
          </a:p>
        </p:txBody>
      </p:sp>
      <p:sp>
        <p:nvSpPr>
          <p:cNvPr id="35" name="Hexagon 34">
            <a:extLst>
              <a:ext uri="{FF2B5EF4-FFF2-40B4-BE49-F238E27FC236}">
                <a16:creationId xmlns:a16="http://schemas.microsoft.com/office/drawing/2014/main" id="{1BAB2B91-81CD-AEDB-D224-5237F0E47EF9}"/>
              </a:ext>
            </a:extLst>
          </p:cNvPr>
          <p:cNvSpPr/>
          <p:nvPr/>
        </p:nvSpPr>
        <p:spPr>
          <a:xfrm>
            <a:off x="8729148" y="3481959"/>
            <a:ext cx="3096828" cy="1211381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Ասիմետրիկ թվային համակարգեր 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(ANS)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hy-AM" sz="1400" dirty="0">
                <a:solidFill>
                  <a:schemeClr val="tx1"/>
                </a:solidFill>
              </a:rPr>
              <a:t>Տեղեկատվությունը կոդավորվի մեկ բնական թվի մեջ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E80593-3CDD-8664-2CE7-147B37A3183D}"/>
              </a:ext>
            </a:extLst>
          </p:cNvPr>
          <p:cNvCxnSpPr>
            <a:cxnSpLocks/>
            <a:stCxn id="18" idx="0"/>
            <a:endCxn id="35" idx="4"/>
          </p:cNvCxnSpPr>
          <p:nvPr/>
        </p:nvCxnSpPr>
        <p:spPr>
          <a:xfrm flipV="1">
            <a:off x="7958774" y="3481959"/>
            <a:ext cx="1073219" cy="10801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BA3ACAA-C5EA-99A4-FF0D-57927C44EC47}"/>
              </a:ext>
            </a:extLst>
          </p:cNvPr>
          <p:cNvCxnSpPr>
            <a:cxnSpLocks/>
            <a:stCxn id="18" idx="0"/>
            <a:endCxn id="35" idx="2"/>
          </p:cNvCxnSpPr>
          <p:nvPr/>
        </p:nvCxnSpPr>
        <p:spPr>
          <a:xfrm>
            <a:off x="7958774" y="4562133"/>
            <a:ext cx="1073219" cy="1312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58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26762-E523-4FEA-3BD5-B8A985E2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6EB672-DDDD-13BA-74DD-CDFF1317A819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Հոֆֆմանի կոդավորում </a:t>
            </a:r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 </a:t>
            </a: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ֆայլի համար</a:t>
            </a: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82E340FC-AD9C-363B-0BCA-64321CE7BF82}"/>
              </a:ext>
            </a:extLst>
          </p:cNvPr>
          <p:cNvSpPr/>
          <p:nvPr/>
        </p:nvSpPr>
        <p:spPr>
          <a:xfrm>
            <a:off x="1375579" y="1693889"/>
            <a:ext cx="3606729" cy="674173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Sylfaen" panose="010A0502050306030303" pitchFamily="18" charset="0"/>
              </a:rPr>
              <a:t>1.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Հաշվարկել հաճախականությունները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FB1390-2E82-9824-DD75-4716B7AC8238}"/>
              </a:ext>
            </a:extLst>
          </p:cNvPr>
          <p:cNvSpPr txBox="1"/>
          <p:nvPr/>
        </p:nvSpPr>
        <p:spPr>
          <a:xfrm>
            <a:off x="1375579" y="1050411"/>
            <a:ext cx="10957097" cy="347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dirty="0" err="1"/>
              <a:t>Անկորուստ</a:t>
            </a:r>
            <a:r>
              <a:rPr lang="en-US" sz="1600" dirty="0"/>
              <a:t> </a:t>
            </a:r>
            <a:r>
              <a:rPr lang="en-US" sz="1600" dirty="0" err="1"/>
              <a:t>սեղմման</a:t>
            </a:r>
            <a:r>
              <a:rPr lang="en-US" sz="1600" dirty="0"/>
              <a:t> </a:t>
            </a:r>
            <a:r>
              <a:rPr lang="en-US" sz="1600" dirty="0" err="1"/>
              <a:t>տեխնիկա</a:t>
            </a:r>
            <a:r>
              <a:rPr lang="en-US" sz="1600" dirty="0"/>
              <a:t>՝ </a:t>
            </a:r>
            <a:r>
              <a:rPr lang="en-US" sz="1600" dirty="0" err="1"/>
              <a:t>ամենահաճախ</a:t>
            </a:r>
            <a:r>
              <a:rPr lang="en-US" sz="1600" dirty="0"/>
              <a:t> </a:t>
            </a:r>
            <a:r>
              <a:rPr lang="en-US" sz="1600" dirty="0" err="1"/>
              <a:t>հանդիպող</a:t>
            </a:r>
            <a:r>
              <a:rPr lang="en-US" sz="1600" dirty="0"/>
              <a:t> </a:t>
            </a:r>
            <a:r>
              <a:rPr lang="en-US" sz="1600" dirty="0" err="1"/>
              <a:t>սիմվոլներին</a:t>
            </a:r>
            <a:r>
              <a:rPr lang="en-US" sz="1600" dirty="0"/>
              <a:t> </a:t>
            </a:r>
            <a:r>
              <a:rPr lang="en-US" sz="1600" dirty="0" err="1"/>
              <a:t>կարճ</a:t>
            </a:r>
            <a:r>
              <a:rPr lang="en-US" sz="1600" dirty="0"/>
              <a:t> </a:t>
            </a:r>
            <a:r>
              <a:rPr lang="en-US" sz="1600" dirty="0" err="1"/>
              <a:t>երկուական</a:t>
            </a:r>
            <a:r>
              <a:rPr lang="en-US" sz="1600" dirty="0"/>
              <a:t> </a:t>
            </a:r>
            <a:r>
              <a:rPr lang="en-US" sz="1600" dirty="0" err="1"/>
              <a:t>կոդեր</a:t>
            </a:r>
            <a:r>
              <a:rPr lang="en-US" sz="1600" dirty="0"/>
              <a:t> </a:t>
            </a:r>
            <a:r>
              <a:rPr lang="en-US" sz="1600" dirty="0" err="1"/>
              <a:t>վերագրելով</a:t>
            </a:r>
            <a:r>
              <a:rPr lang="en-US" sz="1600" dirty="0"/>
              <a:t>։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AB3D8FC8-252C-74FC-6D0C-B780491B05DE}"/>
              </a:ext>
            </a:extLst>
          </p:cNvPr>
          <p:cNvSpPr/>
          <p:nvPr/>
        </p:nvSpPr>
        <p:spPr>
          <a:xfrm>
            <a:off x="1375578" y="2502781"/>
            <a:ext cx="3606729" cy="674173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Sylfaen" panose="010A0502050306030303" pitchFamily="18" charset="0"/>
              </a:rPr>
              <a:t>2.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Ստեղծել տերևային հանգույցներ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44A18903-627E-D3C0-CF55-7C354A418093}"/>
              </a:ext>
            </a:extLst>
          </p:cNvPr>
          <p:cNvSpPr/>
          <p:nvPr/>
        </p:nvSpPr>
        <p:spPr>
          <a:xfrm>
            <a:off x="1375578" y="3311673"/>
            <a:ext cx="3606729" cy="674173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Sylfaen" panose="010A0502050306030303" pitchFamily="18" charset="0"/>
              </a:rPr>
              <a:t>3. </a:t>
            </a:r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Կառուցել ծառը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FECC6055-ADA9-D4D2-B7C1-C466484CEF66}"/>
              </a:ext>
            </a:extLst>
          </p:cNvPr>
          <p:cNvSpPr/>
          <p:nvPr/>
        </p:nvSpPr>
        <p:spPr>
          <a:xfrm>
            <a:off x="1375577" y="4120565"/>
            <a:ext cx="3606729" cy="674173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y-AM" b="1" dirty="0">
                <a:solidFill>
                  <a:schemeClr val="tx1"/>
                </a:solidFill>
                <a:latin typeface="Sylfaen" panose="010A0502050306030303" pitchFamily="18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Sylfaen" panose="010A0502050306030303" pitchFamily="18" charset="0"/>
              </a:rPr>
              <a:t>. </a:t>
            </a:r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Նշանակել երկուական կոդեր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E641548D-F70D-9924-7E5A-1D22A43162D4}"/>
              </a:ext>
            </a:extLst>
          </p:cNvPr>
          <p:cNvSpPr/>
          <p:nvPr/>
        </p:nvSpPr>
        <p:spPr>
          <a:xfrm>
            <a:off x="1246621" y="4941180"/>
            <a:ext cx="3864641" cy="1143097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y-AM" b="1" dirty="0">
                <a:solidFill>
                  <a:schemeClr val="tx1"/>
                </a:solidFill>
                <a:latin typeface="Sylfaen" panose="010A0502050306030303" pitchFamily="18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Sylfaen" panose="010A0502050306030303" pitchFamily="18" charset="0"/>
              </a:rPr>
              <a:t>. 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WAV </a:t>
            </a:r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ֆայլի յուրաքանչյուր նմուշը փոխարինել դրա նոր երկուական կոդով։</a:t>
            </a:r>
            <a:endParaRPr 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E4741-1DB0-DE73-10E0-791CB3E818A7}"/>
              </a:ext>
            </a:extLst>
          </p:cNvPr>
          <p:cNvSpPr txBox="1"/>
          <p:nvPr/>
        </p:nvSpPr>
        <p:spPr>
          <a:xfrm>
            <a:off x="5692140" y="1693889"/>
            <a:ext cx="61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>
                <a:latin typeface="Sylfaen" panose="010A0502050306030303" pitchFamily="18" charset="0"/>
              </a:rPr>
              <a:t>Օր․՝ Մուտքային հաջորդականություն - </a:t>
            </a:r>
            <a:r>
              <a:rPr lang="en-US" dirty="0">
                <a:latin typeface="Sylfaen" panose="010A0502050306030303" pitchFamily="18" charset="0"/>
              </a:rPr>
              <a:t>ABRACADABRA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73E391E-6A69-B021-78DB-E9EB993AF032}"/>
              </a:ext>
            </a:extLst>
          </p:cNvPr>
          <p:cNvGrpSpPr/>
          <p:nvPr/>
        </p:nvGrpSpPr>
        <p:grpSpPr>
          <a:xfrm>
            <a:off x="5529512" y="2368062"/>
            <a:ext cx="4582812" cy="3370283"/>
            <a:chOff x="5452142" y="2672862"/>
            <a:chExt cx="4582812" cy="337028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AD2AAC-9F70-84FD-D00C-73AA7CBBE0A7}"/>
                </a:ext>
              </a:extLst>
            </p:cNvPr>
            <p:cNvSpPr/>
            <p:nvPr/>
          </p:nvSpPr>
          <p:spPr>
            <a:xfrm>
              <a:off x="5920154" y="2672862"/>
              <a:ext cx="1840523" cy="6741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ADCRB: 11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856A5BF-97D4-9D89-5688-4AB6513C15FF}"/>
                </a:ext>
              </a:extLst>
            </p:cNvPr>
            <p:cNvSpPr/>
            <p:nvPr/>
          </p:nvSpPr>
          <p:spPr>
            <a:xfrm>
              <a:off x="7433534" y="3510966"/>
              <a:ext cx="1441387" cy="6388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DCRB: 6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D3FE3B-112B-1944-1143-369A165F79DF}"/>
                </a:ext>
              </a:extLst>
            </p:cNvPr>
            <p:cNvSpPr/>
            <p:nvPr/>
          </p:nvSpPr>
          <p:spPr>
            <a:xfrm>
              <a:off x="6424251" y="4422731"/>
              <a:ext cx="1060660" cy="63881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DC: 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AF53A48-1819-3207-24FB-C64191E3C6CD}"/>
                </a:ext>
              </a:extLst>
            </p:cNvPr>
            <p:cNvSpPr/>
            <p:nvPr/>
          </p:nvSpPr>
          <p:spPr>
            <a:xfrm>
              <a:off x="8526030" y="4457650"/>
              <a:ext cx="1060660" cy="63881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RB: 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9DA512B-D6EA-D2A4-5EDA-CCEE10700CB2}"/>
                </a:ext>
              </a:extLst>
            </p:cNvPr>
            <p:cNvSpPr/>
            <p:nvPr/>
          </p:nvSpPr>
          <p:spPr>
            <a:xfrm>
              <a:off x="9252860" y="5404334"/>
              <a:ext cx="782094" cy="6388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B: 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F62ED03-C460-3292-16BE-B7BA7622830A}"/>
                </a:ext>
              </a:extLst>
            </p:cNvPr>
            <p:cNvSpPr/>
            <p:nvPr/>
          </p:nvSpPr>
          <p:spPr>
            <a:xfrm>
              <a:off x="8113486" y="5404333"/>
              <a:ext cx="873088" cy="6388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R: 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F843EE6-AE7B-1E0C-163F-727F73B4B367}"/>
                </a:ext>
              </a:extLst>
            </p:cNvPr>
            <p:cNvSpPr/>
            <p:nvPr/>
          </p:nvSpPr>
          <p:spPr>
            <a:xfrm>
              <a:off x="5900440" y="5404333"/>
              <a:ext cx="873089" cy="6388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D: 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FD6AB43-955F-6FCD-F10F-8DE0FE2FD995}"/>
                </a:ext>
              </a:extLst>
            </p:cNvPr>
            <p:cNvSpPr/>
            <p:nvPr/>
          </p:nvSpPr>
          <p:spPr>
            <a:xfrm>
              <a:off x="7059528" y="5404333"/>
              <a:ext cx="873089" cy="6388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C: 1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D6FE94B-6756-872B-D5E8-EB5006C70A7F}"/>
                </a:ext>
              </a:extLst>
            </p:cNvPr>
            <p:cNvSpPr/>
            <p:nvPr/>
          </p:nvSpPr>
          <p:spPr>
            <a:xfrm>
              <a:off x="5452142" y="3510966"/>
              <a:ext cx="873089" cy="6388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ylfaen" panose="010A0502050306030303" pitchFamily="18" charset="0"/>
                </a:rPr>
                <a:t>A: 5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1914DE2-0B38-0DE8-C2DF-746F92BDE2EF}"/>
                </a:ext>
              </a:extLst>
            </p:cNvPr>
            <p:cNvCxnSpPr>
              <a:cxnSpLocks/>
            </p:cNvCxnSpPr>
            <p:nvPr/>
          </p:nvCxnSpPr>
          <p:spPr>
            <a:xfrm>
              <a:off x="7668158" y="3176954"/>
              <a:ext cx="200818" cy="3340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8B50193-BA4B-7535-7963-8574A95031AB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5888687" y="3176954"/>
              <a:ext cx="156469" cy="3340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34E7BEC-84F2-1860-5965-945550CF6878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8785756" y="4003578"/>
              <a:ext cx="270604" cy="4540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EDF1C4-FC94-3DED-E63E-15FC38BAF7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9696" y="4003578"/>
              <a:ext cx="300965" cy="4364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4C06A19-519F-C385-FF81-08488D13CDD5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9373303" y="5024026"/>
              <a:ext cx="270604" cy="3803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8F2E601-2846-20DF-A53F-21B336B36911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flipH="1">
              <a:off x="8550030" y="5024026"/>
              <a:ext cx="158609" cy="3803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0AD5A25-657C-9123-A807-CD5D07A7031B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flipH="1">
              <a:off x="6336985" y="4964824"/>
              <a:ext cx="190081" cy="439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C8C87AA-54EB-F11D-52F9-9491E4CFCD83}"/>
                </a:ext>
              </a:extLst>
            </p:cNvPr>
            <p:cNvCxnSpPr>
              <a:cxnSpLocks/>
              <a:stCxn id="15" idx="5"/>
              <a:endCxn id="20" idx="0"/>
            </p:cNvCxnSpPr>
            <p:nvPr/>
          </p:nvCxnSpPr>
          <p:spPr>
            <a:xfrm>
              <a:off x="7329581" y="4967990"/>
              <a:ext cx="166492" cy="4363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D319F3F-E8E1-3426-F969-588B0379C80E}"/>
                </a:ext>
              </a:extLst>
            </p:cNvPr>
            <p:cNvSpPr txBox="1"/>
            <p:nvPr/>
          </p:nvSpPr>
          <p:spPr>
            <a:xfrm>
              <a:off x="7703841" y="3074254"/>
              <a:ext cx="228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ylfaen" panose="010A0502050306030303" pitchFamily="18" charset="0"/>
                </a:rPr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AFD593F-0E36-CC2A-36AE-8A6D5F60FA89}"/>
                </a:ext>
              </a:extLst>
            </p:cNvPr>
            <p:cNvSpPr txBox="1"/>
            <p:nvPr/>
          </p:nvSpPr>
          <p:spPr>
            <a:xfrm>
              <a:off x="9439049" y="4964824"/>
              <a:ext cx="228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ylfaen" panose="010A0502050306030303" pitchFamily="18" charset="0"/>
                </a:rPr>
                <a:t>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5D462D9-5669-9678-8413-5A855060581F}"/>
                </a:ext>
              </a:extLst>
            </p:cNvPr>
            <p:cNvSpPr txBox="1"/>
            <p:nvPr/>
          </p:nvSpPr>
          <p:spPr>
            <a:xfrm>
              <a:off x="8874921" y="3963426"/>
              <a:ext cx="228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ylfaen" panose="010A0502050306030303" pitchFamily="18" charset="0"/>
                </a:rPr>
                <a:t>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7BF9607-041A-CE46-74CF-0A7A00434ED2}"/>
                </a:ext>
              </a:extLst>
            </p:cNvPr>
            <p:cNvSpPr txBox="1"/>
            <p:nvPr/>
          </p:nvSpPr>
          <p:spPr>
            <a:xfrm>
              <a:off x="7352466" y="4929419"/>
              <a:ext cx="228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ylfaen" panose="010A0502050306030303" pitchFamily="18" charset="0"/>
                </a:rPr>
                <a:t>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181111D-533D-0793-DE0E-3D36814F6E0B}"/>
                </a:ext>
              </a:extLst>
            </p:cNvPr>
            <p:cNvSpPr txBox="1"/>
            <p:nvPr/>
          </p:nvSpPr>
          <p:spPr>
            <a:xfrm>
              <a:off x="8406642" y="4977042"/>
              <a:ext cx="228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ylfaen" panose="010A0502050306030303" pitchFamily="18" charset="0"/>
                </a:rPr>
                <a:t>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E7D73CB-C2DE-F206-2915-A51BCA7D8EF2}"/>
                </a:ext>
              </a:extLst>
            </p:cNvPr>
            <p:cNvSpPr txBox="1"/>
            <p:nvPr/>
          </p:nvSpPr>
          <p:spPr>
            <a:xfrm>
              <a:off x="6183475" y="4964824"/>
              <a:ext cx="228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ylfaen" panose="010A0502050306030303" pitchFamily="18" charset="0"/>
                </a:rPr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6064EA9-B37D-6474-719D-F2BAB4052B27}"/>
                </a:ext>
              </a:extLst>
            </p:cNvPr>
            <p:cNvSpPr txBox="1"/>
            <p:nvPr/>
          </p:nvSpPr>
          <p:spPr>
            <a:xfrm>
              <a:off x="7164671" y="3963426"/>
              <a:ext cx="228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ylfaen" panose="010A0502050306030303" pitchFamily="18" charset="0"/>
                </a:rPr>
                <a:t>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F1650EF-0852-321D-5789-15F1E4DCCDD6}"/>
                </a:ext>
              </a:extLst>
            </p:cNvPr>
            <p:cNvSpPr txBox="1"/>
            <p:nvPr/>
          </p:nvSpPr>
          <p:spPr>
            <a:xfrm>
              <a:off x="5710658" y="3159294"/>
              <a:ext cx="228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ylfaen" panose="010A0502050306030303" pitchFamily="18" charset="0"/>
                </a:rPr>
                <a:t>0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4F36CFA-1DD2-585E-CD90-C327332C7CC3}"/>
              </a:ext>
            </a:extLst>
          </p:cNvPr>
          <p:cNvCxnSpPr>
            <a:cxnSpLocks/>
          </p:cNvCxnSpPr>
          <p:nvPr/>
        </p:nvCxnSpPr>
        <p:spPr>
          <a:xfrm>
            <a:off x="10241280" y="2368062"/>
            <a:ext cx="0" cy="3355676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B16F75A-1650-4C69-7B5C-33971148D60F}"/>
              </a:ext>
            </a:extLst>
          </p:cNvPr>
          <p:cNvSpPr txBox="1"/>
          <p:nvPr/>
        </p:nvSpPr>
        <p:spPr>
          <a:xfrm>
            <a:off x="6942943" y="5990433"/>
            <a:ext cx="200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/>
              <a:t>Հոֆֆմանի ծառ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0ADC73-1945-0542-2867-DE1C887EB134}"/>
              </a:ext>
            </a:extLst>
          </p:cNvPr>
          <p:cNvSpPr txBox="1"/>
          <p:nvPr/>
        </p:nvSpPr>
        <p:spPr>
          <a:xfrm>
            <a:off x="10186750" y="5990433"/>
            <a:ext cx="20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/>
              <a:t>Հոֆֆմանի կոդեր</a:t>
            </a:r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EF2C10A-725E-AD88-FE1F-5249E7A5C01B}"/>
              </a:ext>
            </a:extLst>
          </p:cNvPr>
          <p:cNvSpPr/>
          <p:nvPr/>
        </p:nvSpPr>
        <p:spPr>
          <a:xfrm>
            <a:off x="10632324" y="2546253"/>
            <a:ext cx="105155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A : 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4F26245-C913-76F9-4F06-543277C13A3D}"/>
              </a:ext>
            </a:extLst>
          </p:cNvPr>
          <p:cNvSpPr/>
          <p:nvPr/>
        </p:nvSpPr>
        <p:spPr>
          <a:xfrm>
            <a:off x="10632324" y="3197658"/>
            <a:ext cx="105155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B : 111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7C5EC36-60E2-3A93-43C7-A47A9F01B2C0}"/>
              </a:ext>
            </a:extLst>
          </p:cNvPr>
          <p:cNvSpPr/>
          <p:nvPr/>
        </p:nvSpPr>
        <p:spPr>
          <a:xfrm>
            <a:off x="10632325" y="3842161"/>
            <a:ext cx="105155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R : 110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F3D811C-DC58-8241-7828-C2D5E619BB22}"/>
              </a:ext>
            </a:extLst>
          </p:cNvPr>
          <p:cNvSpPr/>
          <p:nvPr/>
        </p:nvSpPr>
        <p:spPr>
          <a:xfrm>
            <a:off x="10632326" y="4553734"/>
            <a:ext cx="105155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C : 101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4A033E7-BA44-18BF-06B6-5DF84561191D}"/>
              </a:ext>
            </a:extLst>
          </p:cNvPr>
          <p:cNvSpPr/>
          <p:nvPr/>
        </p:nvSpPr>
        <p:spPr>
          <a:xfrm>
            <a:off x="10632327" y="5232392"/>
            <a:ext cx="105155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D : 100</a:t>
            </a:r>
          </a:p>
        </p:txBody>
      </p:sp>
    </p:spTree>
    <p:extLst>
      <p:ext uri="{BB962C8B-B14F-4D97-AF65-F5344CB8AC3E}">
        <p14:creationId xmlns:p14="http://schemas.microsoft.com/office/powerpoint/2010/main" val="63642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0F1DA-2ECD-764C-2990-14458DD7F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FA8546-B51B-6CFB-6E68-117688FF0459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 </a:t>
            </a: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ֆայլի տվյալների վերլուծիչ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CA64C-77C3-378E-A7FE-08458A4374D6}"/>
              </a:ext>
            </a:extLst>
          </p:cNvPr>
          <p:cNvSpPr txBox="1"/>
          <p:nvPr/>
        </p:nvSpPr>
        <p:spPr>
          <a:xfrm>
            <a:off x="1713782" y="1001327"/>
            <a:ext cx="4382218" cy="365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Սկզբում</a:t>
            </a:r>
            <a:r>
              <a:rPr lang="en-US" dirty="0"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hy-AM" dirty="0"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կարդում ենք բայթերի առաջին խումբը, որոնք գրված են որպես «RIFF» և «WAVE»</a:t>
            </a:r>
            <a:endParaRPr lang="en-US" dirty="0">
              <a:latin typeface="Sylfaen" panose="010A0502050306030303" pitchFamily="18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/>
              <a:t>Անցնում ենք ֆայլի մնացած մասի վրայով՝ կարդալով յուրաքանչյուր բաժնի անունը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/>
              <a:t>Ավելացնում բաժնի գտնվելու վայրը աղյուսակում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/>
              <a:t>Անվանը միշտ հաջորդում է բաժնի չափը, և կարող ենք հեշտությամբ անցնել հաջորդ բաժնին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B14E7BB3-2710-4942-E85A-0AEC8FDB6984}"/>
              </a:ext>
            </a:extLst>
          </p:cNvPr>
          <p:cNvSpPr/>
          <p:nvPr/>
        </p:nvSpPr>
        <p:spPr>
          <a:xfrm>
            <a:off x="7342039" y="3328266"/>
            <a:ext cx="4382218" cy="533084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Sylfaen" panose="010A0502050306030303" pitchFamily="18" charset="0"/>
              </a:rPr>
              <a:t>1.</a:t>
            </a:r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Գտնել «ձևաչափ»-ի (fmt) և «տվյալներ»-ի (data) բաժինները</a:t>
            </a:r>
            <a:endParaRPr 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2C408B8D-31AB-BABC-7725-E9359FBE4EE9}"/>
              </a:ext>
            </a:extLst>
          </p:cNvPr>
          <p:cNvSpPr/>
          <p:nvPr/>
        </p:nvSpPr>
        <p:spPr>
          <a:xfrm>
            <a:off x="7342038" y="3973515"/>
            <a:ext cx="4382218" cy="533085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Sylfaen" panose="010A0502050306030303" pitchFamily="18" charset="0"/>
              </a:rPr>
              <a:t>2.</a:t>
            </a:r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Sylfaen" panose="010A0502050306030303" pitchFamily="18" charset="0"/>
              </a:rPr>
              <a:t>Վերլուծել</a:t>
            </a:r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Sylfaen" panose="010A0502050306030303" pitchFamily="18" charset="0"/>
              </a:rPr>
              <a:t>fmt</a:t>
            </a:r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Sylfaen" panose="010A0502050306030303" pitchFamily="18" charset="0"/>
              </a:rPr>
              <a:t>բաժինը</a:t>
            </a:r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 offset + 8-ում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B896E4-2EBD-1AD6-5407-6120915887E0}"/>
              </a:ext>
            </a:extLst>
          </p:cNvPr>
          <p:cNvSpPr txBox="1"/>
          <p:nvPr/>
        </p:nvSpPr>
        <p:spPr>
          <a:xfrm>
            <a:off x="7256972" y="1001327"/>
            <a:ext cx="4382218" cy="2269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Ենթադրենք, ստացել ենք հետևյալը.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“RIFF”   : 0</a:t>
            </a:r>
            <a:b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</a:br>
            <a: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“JUNK” : 12</a:t>
            </a:r>
            <a:b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</a:br>
            <a: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“fmt”    : 48</a:t>
            </a:r>
            <a:b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</a:br>
            <a: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“bext”   : 96</a:t>
            </a:r>
            <a:b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</a:br>
            <a:r>
              <a:rPr lang="hy-AM" sz="16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“data”   : 1072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47E3164A-BAE1-78A8-114B-23A5CC92E42C}"/>
              </a:ext>
            </a:extLst>
          </p:cNvPr>
          <p:cNvSpPr/>
          <p:nvPr/>
        </p:nvSpPr>
        <p:spPr>
          <a:xfrm>
            <a:off x="7342038" y="4618764"/>
            <a:ext cx="4382218" cy="533084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Sylfaen" panose="010A0502050306030303" pitchFamily="18" charset="0"/>
              </a:rPr>
              <a:t>3.</a:t>
            </a:r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Տողում տվյալների բայթերի արդյունահանում</a:t>
            </a:r>
            <a:endParaRPr 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1ADD047C-C4EF-8E93-08ED-CA47A97534CB}"/>
              </a:ext>
            </a:extLst>
          </p:cNvPr>
          <p:cNvSpPr/>
          <p:nvPr/>
        </p:nvSpPr>
        <p:spPr>
          <a:xfrm>
            <a:off x="7342038" y="5299959"/>
            <a:ext cx="4382218" cy="533084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Sylfaen" panose="010A0502050306030303" pitchFamily="18" charset="0"/>
              </a:rPr>
              <a:t>4.</a:t>
            </a:r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Բայթերը փոխակերպել լողացող նմուշների</a:t>
            </a:r>
            <a:endParaRPr 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7A7EED96-842A-9B2E-E447-A15E9CDDDF24}"/>
              </a:ext>
            </a:extLst>
          </p:cNvPr>
          <p:cNvSpPr/>
          <p:nvPr/>
        </p:nvSpPr>
        <p:spPr>
          <a:xfrm>
            <a:off x="7342038" y="5981153"/>
            <a:ext cx="4382218" cy="730391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Sylfaen" panose="010A0502050306030303" pitchFamily="18" charset="0"/>
              </a:rPr>
              <a:t>5.</a:t>
            </a:r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Վերադարձնել ազդանշանը նմուշներով և նմուշավորման հաճախությունով</a:t>
            </a:r>
            <a:endParaRPr 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471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2E1F5-F558-47BF-CE75-D61126379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2C5CA9-2725-9999-4EBD-1A7096A17AB0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Թվաբանական կոդավորման ալգորիթմ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33EF1E6-E68F-A8A3-966B-D8E3077DBA1C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044190" y="1977390"/>
            <a:ext cx="0" cy="2028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Hexagon 3">
            <a:extLst>
              <a:ext uri="{FF2B5EF4-FFF2-40B4-BE49-F238E27FC236}">
                <a16:creationId xmlns:a16="http://schemas.microsoft.com/office/drawing/2014/main" id="{824A9A78-63CE-6984-7B9D-CB722AB537DB}"/>
              </a:ext>
            </a:extLst>
          </p:cNvPr>
          <p:cNvSpPr/>
          <p:nvPr/>
        </p:nvSpPr>
        <p:spPr>
          <a:xfrm>
            <a:off x="1458783" y="1163574"/>
            <a:ext cx="3216086" cy="813816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Սկզբնական պայմաններ</a:t>
            </a:r>
          </a:p>
          <a:p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Set low = 0.0</a:t>
            </a:r>
            <a:endParaRPr lang="hy-AM" sz="1600" dirty="0">
              <a:solidFill>
                <a:schemeClr val="tx1"/>
              </a:solidFill>
              <a:latin typeface="Sylfaen" panose="010A0502050306030303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Set high = 1.0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0D906372-F885-528C-B198-54253A1275B8}"/>
              </a:ext>
            </a:extLst>
          </p:cNvPr>
          <p:cNvSpPr/>
          <p:nvPr/>
        </p:nvSpPr>
        <p:spPr>
          <a:xfrm>
            <a:off x="1436147" y="2180271"/>
            <a:ext cx="3216086" cy="1624206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Մուտքագրվող սիմվոլը դեռ կա</a:t>
            </a:r>
            <a:endParaRPr 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While 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037CF8-10BE-42F2-9221-653C1D94C531}"/>
              </a:ext>
            </a:extLst>
          </p:cNvPr>
          <p:cNvSpPr/>
          <p:nvPr/>
        </p:nvSpPr>
        <p:spPr>
          <a:xfrm>
            <a:off x="983360" y="4007358"/>
            <a:ext cx="4125850" cy="104470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Վերցնել մուտքագրվող սիմվոլը</a:t>
            </a:r>
          </a:p>
          <a:p>
            <a:pPr algn="ctr"/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CR = high – low</a:t>
            </a:r>
            <a:b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</a:br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High = low + CR*high_range(սիմվոլ)</a:t>
            </a:r>
          </a:p>
          <a:p>
            <a:pPr algn="ctr"/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Low = low + CR*low_range(սիմվոլ)</a:t>
            </a:r>
            <a:endParaRPr 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63C132-C1AE-05B8-4EFD-3D91C3AA8F5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044190" y="3804477"/>
            <a:ext cx="2095" cy="2028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DC15AC-8373-81F8-B9FF-B2090F6B2388}"/>
              </a:ext>
            </a:extLst>
          </p:cNvPr>
          <p:cNvSpPr/>
          <p:nvPr/>
        </p:nvSpPr>
        <p:spPr>
          <a:xfrm>
            <a:off x="1798509" y="5331519"/>
            <a:ext cx="2491362" cy="5509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Վերջացնել while-ը</a:t>
            </a:r>
            <a:endParaRPr 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  <a:p>
            <a:pPr algn="ctr"/>
            <a:r>
              <a:rPr lang="hy-AM" sz="1600" dirty="0">
                <a:solidFill>
                  <a:schemeClr val="tx1"/>
                </a:solidFill>
                <a:latin typeface="Sylfaen" panose="010A0502050306030303" pitchFamily="18" charset="0"/>
              </a:rPr>
              <a:t>Տպել low-ը</a:t>
            </a:r>
            <a:endParaRPr 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96882-546A-8CCC-3E52-90D7B55E7F9D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3044190" y="5052060"/>
            <a:ext cx="2095" cy="2794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03C0F3-F30D-47A9-107E-5C6ED8B20C3C}"/>
              </a:ext>
            </a:extLst>
          </p:cNvPr>
          <p:cNvSpPr txBox="1"/>
          <p:nvPr/>
        </p:nvSpPr>
        <p:spPr>
          <a:xfrm>
            <a:off x="6096000" y="1163574"/>
            <a:ext cx="528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>
                <a:latin typeface="Sylfaen" panose="010A0502050306030303" pitchFamily="18" charset="0"/>
              </a:rPr>
              <a:t>Օր․՝ Մուտքային հաջորդականություն - </a:t>
            </a:r>
            <a:r>
              <a:rPr lang="en-US" dirty="0">
                <a:latin typeface="Sylfaen" panose="010A0502050306030303" pitchFamily="18" charset="0"/>
              </a:rPr>
              <a:t>BAA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F056853-236F-18B1-5F80-CB58C0EE3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808382"/>
              </p:ext>
            </p:extLst>
          </p:nvPr>
        </p:nvGraphicFramePr>
        <p:xfrm>
          <a:off x="6096000" y="1840371"/>
          <a:ext cx="5002530" cy="133218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12077">
                  <a:extLst>
                    <a:ext uri="{9D8B030D-6E8A-4147-A177-3AD203B41FA5}">
                      <a16:colId xmlns:a16="http://schemas.microsoft.com/office/drawing/2014/main" val="108579845"/>
                    </a:ext>
                  </a:extLst>
                </a:gridCol>
                <a:gridCol w="3790453">
                  <a:extLst>
                    <a:ext uri="{9D8B030D-6E8A-4147-A177-3AD203B41FA5}">
                      <a16:colId xmlns:a16="http://schemas.microsoft.com/office/drawing/2014/main" val="1262089082"/>
                    </a:ext>
                  </a:extLst>
                </a:gridCol>
              </a:tblGrid>
              <a:tr h="4858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Արժեք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Հավանականություն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436790"/>
                  </a:ext>
                </a:extLst>
              </a:tr>
              <a:tr h="402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80% (0.8)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174390"/>
                  </a:ext>
                </a:extLst>
              </a:tr>
              <a:tr h="402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20% (0.2)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393709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5059BB4-1652-EB04-4846-91F8CB225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857153"/>
              </p:ext>
            </p:extLst>
          </p:nvPr>
        </p:nvGraphicFramePr>
        <p:xfrm>
          <a:off x="5715674" y="3644859"/>
          <a:ext cx="6049515" cy="2247303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60295">
                  <a:extLst>
                    <a:ext uri="{9D8B030D-6E8A-4147-A177-3AD203B41FA5}">
                      <a16:colId xmlns:a16="http://schemas.microsoft.com/office/drawing/2014/main" val="143987967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70944269"/>
                    </a:ext>
                  </a:extLst>
                </a:gridCol>
                <a:gridCol w="3269862">
                  <a:extLst>
                    <a:ext uri="{9D8B030D-6E8A-4147-A177-3AD203B41FA5}">
                      <a16:colId xmlns:a16="http://schemas.microsoft.com/office/drawing/2014/main" val="1213318234"/>
                    </a:ext>
                  </a:extLst>
                </a:gridCol>
                <a:gridCol w="1176408">
                  <a:extLst>
                    <a:ext uri="{9D8B030D-6E8A-4147-A177-3AD203B41FA5}">
                      <a16:colId xmlns:a16="http://schemas.microsoft.com/office/drawing/2014/main" val="2753682301"/>
                    </a:ext>
                  </a:extLst>
                </a:gridCol>
              </a:tblGrid>
              <a:tr h="6451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effectLst/>
                          <a:latin typeface="Sylfaen" panose="010A0502050306030303" pitchFamily="18" charset="0"/>
                        </a:rPr>
                        <a:t>Համար</a:t>
                      </a:r>
                      <a:endParaRPr lang="en-US" sz="140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Արժեք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Միջակայքի հաշվարկ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Նոր միջակայք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754227"/>
                  </a:ext>
                </a:extLst>
              </a:tr>
              <a:tr h="3863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effectLst/>
                          <a:latin typeface="Sylfaen" panose="010A0502050306030303" pitchFamily="18" charset="0"/>
                        </a:rPr>
                        <a:t>Սկիզբ</a:t>
                      </a:r>
                      <a:endParaRPr lang="en-US" sz="140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-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Ամբողջական միջակայք </a:t>
                      </a: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[0, 1)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[0, 1)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041807"/>
                  </a:ext>
                </a:extLst>
              </a:tr>
              <a:tr h="3863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1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B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20%-</a:t>
                      </a: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ը կլինի </a:t>
                      </a: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[0.8, 1.0)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[0.8, 1.0)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566302"/>
                  </a:ext>
                </a:extLst>
              </a:tr>
              <a:tr h="3863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2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A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80%</a:t>
                      </a: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-ը կլինի </a:t>
                      </a: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0.8+(1.0-0.8)*0.8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[0.8, 0.96)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767625"/>
                  </a:ext>
                </a:extLst>
              </a:tr>
              <a:tr h="3863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3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A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80%</a:t>
                      </a:r>
                      <a:r>
                        <a:rPr lang="hy-AM" sz="1400" dirty="0">
                          <a:effectLst/>
                          <a:latin typeface="Sylfaen" panose="010A0502050306030303" pitchFamily="18" charset="0"/>
                        </a:rPr>
                        <a:t>-ը կլինի </a:t>
                      </a: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0.8+(0.96-0.8)*0.8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ylfaen" panose="010A0502050306030303" pitchFamily="18" charset="0"/>
                        </a:rPr>
                        <a:t>[0.8, 0.928)</a:t>
                      </a:r>
                      <a:endParaRPr lang="en-US" sz="1400" dirty="0"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940215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944B7064-7255-6343-570B-AC210565D7E9}"/>
              </a:ext>
            </a:extLst>
          </p:cNvPr>
          <p:cNvSpPr txBox="1"/>
          <p:nvPr/>
        </p:nvSpPr>
        <p:spPr>
          <a:xfrm>
            <a:off x="4853939" y="6072075"/>
            <a:ext cx="7338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ylfaen" panose="010A0502050306030303" pitchFamily="18" charset="0"/>
              </a:rPr>
              <a:t>«BAA» </a:t>
            </a:r>
            <a:r>
              <a:rPr lang="hy-AM" sz="1600" dirty="0">
                <a:latin typeface="Sylfaen" panose="010A0502050306030303" pitchFamily="18" charset="0"/>
              </a:rPr>
              <a:t>հաղորդագրությունը պահպանելու համար անհրաժեշտ է պահպանել միայն մեկ թիվ, որը գտնվում է վերջնական միջակայքում, օրինակ՝ 0.9:</a:t>
            </a:r>
            <a:endParaRPr lang="en-US" sz="1600" dirty="0">
              <a:latin typeface="Sylfaen" panose="010A0502050306030303" pitchFamily="18" charset="0"/>
            </a:endParaRPr>
          </a:p>
        </p:txBody>
      </p:sp>
      <p:pic>
        <p:nvPicPr>
          <p:cNvPr id="38" name="Graphic 37" descr="Checkbox Checked with solid fill">
            <a:extLst>
              <a:ext uri="{FF2B5EF4-FFF2-40B4-BE49-F238E27FC236}">
                <a16:creationId xmlns:a16="http://schemas.microsoft.com/office/drawing/2014/main" id="{3284AE1E-BC18-4D57-05D3-AB78E0DC1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3119" y="6036180"/>
            <a:ext cx="603499" cy="60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1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40BF7-8D66-0287-FC27-91B83D1B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C0E7B5-941A-F060-85BA-BA99C1D2919D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Zstd համադրումը այլ կոդավորումներին</a:t>
            </a:r>
            <a:endParaRPr lang="hy-AM" sz="32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54DE0-2D56-53D6-0B8B-C9ACBC4E1BEF}"/>
              </a:ext>
            </a:extLst>
          </p:cNvPr>
          <p:cNvSpPr txBox="1"/>
          <p:nvPr/>
        </p:nvSpPr>
        <p:spPr>
          <a:xfrm>
            <a:off x="1536093" y="1065937"/>
            <a:ext cx="10379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  Zstd</a:t>
            </a:r>
            <a:r>
              <a:rPr lang="en-US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 </a:t>
            </a:r>
            <a:r>
              <a:rPr lang="hy-AM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սեղմումը թվաբանականից առաջ տեղադրելը ապահով</a:t>
            </a:r>
            <a:r>
              <a:rPr lang="hy-AM" dirty="0"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ում է</a:t>
            </a:r>
            <a:r>
              <a:rPr lang="hy-AM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 ավելի լավ սեղմման հարաբերակցություն, քանի որ այս հերթականությունը համապատասխանում է ժամանակակից սեղմման մեջ օգտագործվող ստանդարտ «Բառարան + Էնտրոպիա» մոդելին։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36C6F3-0529-72FD-4220-CC9233F9900F}"/>
                  </a:ext>
                </a:extLst>
              </p:cNvPr>
              <p:cNvSpPr txBox="1"/>
              <p:nvPr/>
            </p:nvSpPr>
            <p:spPr>
              <a:xfrm>
                <a:off x="5073015" y="2199094"/>
                <a:ext cx="20459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y-AM" sz="1800" i="1" smtClean="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𝐶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𝑥</m:t>
                        </m:r>
                      </m:e>
                    </m:d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=</m:t>
                    </m:r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𝐴</m:t>
                    </m:r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(</m:t>
                    </m:r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𝑍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𝑥</m:t>
                        </m:r>
                      </m:e>
                    </m:d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)</m:t>
                    </m:r>
                  </m:oMath>
                </a14:m>
                <a:r>
                  <a:rPr lang="hy-AM" sz="1800" dirty="0">
                    <a:effectLst/>
                    <a:latin typeface="Sylfaen" panose="010A0502050306030303" pitchFamily="18" charset="0"/>
                    <a:ea typeface="MS Mincho" panose="02020609040205080304" pitchFamily="49" charset="-128"/>
                    <a:cs typeface="MS Mincho" panose="02020609040205080304" pitchFamily="49" charset="-128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36C6F3-0529-72FD-4220-CC9233F99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015" y="2199094"/>
                <a:ext cx="204597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Chevron 6">
            <a:extLst>
              <a:ext uri="{FF2B5EF4-FFF2-40B4-BE49-F238E27FC236}">
                <a16:creationId xmlns:a16="http://schemas.microsoft.com/office/drawing/2014/main" id="{9594FC49-7500-784A-2CC7-6A9F3D9E4943}"/>
              </a:ext>
            </a:extLst>
          </p:cNvPr>
          <p:cNvSpPr/>
          <p:nvPr/>
        </p:nvSpPr>
        <p:spPr>
          <a:xfrm>
            <a:off x="3097530" y="2865594"/>
            <a:ext cx="2651760" cy="67437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Sylfaen" panose="010A0502050306030303" pitchFamily="18" charset="0"/>
              </a:rPr>
              <a:t>Zstd</a:t>
            </a:r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 սեղմում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 (Z)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5FB433E7-B5EF-A346-9622-8D5CBCF5C2ED}"/>
              </a:ext>
            </a:extLst>
          </p:cNvPr>
          <p:cNvSpPr/>
          <p:nvPr/>
        </p:nvSpPr>
        <p:spPr>
          <a:xfrm>
            <a:off x="6324602" y="2865594"/>
            <a:ext cx="3139438" cy="67437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Թվաբանական կոդավորում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 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A1FAB-19BB-DF81-8BFF-2A0E25CF8E03}"/>
              </a:ext>
            </a:extLst>
          </p:cNvPr>
          <p:cNvSpPr txBox="1"/>
          <p:nvPr/>
        </p:nvSpPr>
        <p:spPr>
          <a:xfrm>
            <a:off x="5852160" y="2778253"/>
            <a:ext cx="571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649EC-DCC3-28C5-A84B-70651CD50BA8}"/>
              </a:ext>
            </a:extLst>
          </p:cNvPr>
          <p:cNvSpPr txBox="1"/>
          <p:nvPr/>
        </p:nvSpPr>
        <p:spPr>
          <a:xfrm>
            <a:off x="3794760" y="5894754"/>
            <a:ext cx="234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Վերծանումը կլինի</a:t>
            </a:r>
            <a:r>
              <a:rPr lang="en-US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`</a:t>
            </a:r>
            <a:r>
              <a:rPr lang="hy-AM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DD837F-C3E9-8784-CC93-AE98BFFA532F}"/>
                  </a:ext>
                </a:extLst>
              </p:cNvPr>
              <p:cNvSpPr txBox="1"/>
              <p:nvPr/>
            </p:nvSpPr>
            <p:spPr>
              <a:xfrm>
                <a:off x="6236968" y="5894754"/>
                <a:ext cx="2466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y-AM" sz="1800" i="1" smtClean="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𝐷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𝑦</m:t>
                        </m:r>
                      </m:e>
                    </m:d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𝑍</m:t>
                        </m:r>
                      </m:e>
                      <m:sup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−1</m:t>
                        </m:r>
                      </m:sup>
                    </m:sSup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(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𝐴</m:t>
                        </m:r>
                      </m:e>
                      <m:sup>
                        <m:r>
                          <a:rPr lang="hy-AM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𝑦</m:t>
                        </m:r>
                      </m:e>
                    </m:d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)</m:t>
                    </m:r>
                  </m:oMath>
                </a14:m>
                <a:r>
                  <a:rPr lang="hy-AM" sz="1800" dirty="0">
                    <a:effectLst/>
                    <a:latin typeface="Sylfaen" panose="010A0502050306030303" pitchFamily="18" charset="0"/>
                    <a:ea typeface="MS Mincho" panose="02020609040205080304" pitchFamily="49" charset="-128"/>
                    <a:cs typeface="MS Mincho" panose="02020609040205080304" pitchFamily="49" charset="-128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DD837F-C3E9-8784-CC93-AE98BFFA5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968" y="5894754"/>
                <a:ext cx="2466975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F66B94A-A846-63B3-F294-6B00A47737A8}"/>
              </a:ext>
            </a:extLst>
          </p:cNvPr>
          <p:cNvSpPr txBox="1"/>
          <p:nvPr/>
        </p:nvSpPr>
        <p:spPr>
          <a:xfrm>
            <a:off x="1468755" y="4077148"/>
            <a:ext cx="3497580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y-AM" sz="1600" dirty="0"/>
              <a:t>Կատարվում է մեծ կրկնվող տողերը գտնելու և կարճ ցուցիչներով փոխարինելու համար</a:t>
            </a:r>
            <a:endParaRPr lang="en-US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B72DF4-2CC1-F521-5C9E-732BAC9EF6ED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flipH="1">
            <a:off x="3217545" y="3539964"/>
            <a:ext cx="1037273" cy="53718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5F495DF-9423-780D-90B7-097B52122910}"/>
              </a:ext>
            </a:extLst>
          </p:cNvPr>
          <p:cNvSpPr txBox="1"/>
          <p:nvPr/>
        </p:nvSpPr>
        <p:spPr>
          <a:xfrm>
            <a:off x="7225667" y="4077148"/>
            <a:ext cx="4053840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hy-AM" sz="16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Վերցնում է մնացած լիտերալները և համապատասխանեցման շեղումները և կատարում է էնտրոպիայի կոդավորում</a:t>
            </a:r>
            <a:endParaRPr lang="en-US" sz="16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E96C8F-1F45-2E8A-70FC-8514D1CD734F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>
            <a:off x="7725729" y="3539964"/>
            <a:ext cx="1526858" cy="53718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46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A493B-6988-9E1D-CC42-B387E73F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97374-2E21-8E21-04ED-F6489E888A1F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Zstd համադրումը այլ կոդավորումներին</a:t>
            </a:r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(2)</a:t>
            </a:r>
            <a:endParaRPr lang="hy-AM" sz="32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B853A-BEAF-3B9E-C832-0DD0D929BB27}"/>
              </a:ext>
            </a:extLst>
          </p:cNvPr>
          <p:cNvSpPr txBox="1"/>
          <p:nvPr/>
        </p:nvSpPr>
        <p:spPr>
          <a:xfrm>
            <a:off x="1603362" y="1072009"/>
            <a:ext cx="10215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  Zstd-ի համատեղումը Հոֆֆմանի կոդավորման հետ երկաստիճան, կորուստներից զուրկ սեղմման խողովակաշար է և այն ստուգում է, թե արդյոք երկրորդ էնտրոպիայի կոդավորման անցումը կարող է օգտագործել առաջին սեղմման ելքում մնացած վիճակագրական շեղումը։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AA541B-1622-BCE4-11EE-C2A51CABC873}"/>
                  </a:ext>
                </a:extLst>
              </p:cNvPr>
              <p:cNvSpPr txBox="1"/>
              <p:nvPr/>
            </p:nvSpPr>
            <p:spPr>
              <a:xfrm>
                <a:off x="5187315" y="2211238"/>
                <a:ext cx="18173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y-AM" sz="1800" i="1" smtClean="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𝐶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𝑥</m:t>
                        </m:r>
                      </m:e>
                    </m:d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=</m:t>
                    </m:r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𝐻</m:t>
                    </m:r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(</m:t>
                    </m:r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𝑍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MS Mincho" panose="02020609040205080304" pitchFamily="49" charset="-128"/>
                          </a:rPr>
                          <m:t>𝑥</m:t>
                        </m:r>
                      </m:e>
                    </m:d>
                    <m:r>
                      <a:rPr lang="hy-AM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)</m:t>
                    </m:r>
                  </m:oMath>
                </a14:m>
                <a:r>
                  <a:rPr lang="hy-AM" sz="1800" dirty="0">
                    <a:effectLst/>
                    <a:latin typeface="Sylfaen" panose="010A0502050306030303" pitchFamily="18" charset="0"/>
                    <a:ea typeface="MS Mincho" panose="02020609040205080304" pitchFamily="49" charset="-128"/>
                    <a:cs typeface="MS Mincho" panose="02020609040205080304" pitchFamily="49" charset="-128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AA541B-1622-BCE4-11EE-C2A51CABC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15" y="2211238"/>
                <a:ext cx="181737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Chevron 7">
            <a:extLst>
              <a:ext uri="{FF2B5EF4-FFF2-40B4-BE49-F238E27FC236}">
                <a16:creationId xmlns:a16="http://schemas.microsoft.com/office/drawing/2014/main" id="{092567AC-0C29-8292-EDC2-038341E0F3DF}"/>
              </a:ext>
            </a:extLst>
          </p:cNvPr>
          <p:cNvSpPr/>
          <p:nvPr/>
        </p:nvSpPr>
        <p:spPr>
          <a:xfrm>
            <a:off x="3097530" y="2865594"/>
            <a:ext cx="2651760" cy="67437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Sylfaen" panose="010A0502050306030303" pitchFamily="18" charset="0"/>
              </a:rPr>
              <a:t>Zstd</a:t>
            </a:r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 սեղմում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 (Z)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E4BE009A-AF91-9C6E-219C-5F56411094FB}"/>
              </a:ext>
            </a:extLst>
          </p:cNvPr>
          <p:cNvSpPr/>
          <p:nvPr/>
        </p:nvSpPr>
        <p:spPr>
          <a:xfrm>
            <a:off x="6324602" y="2865594"/>
            <a:ext cx="3139438" cy="67437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>
                <a:solidFill>
                  <a:schemeClr val="tx1"/>
                </a:solidFill>
              </a:rPr>
              <a:t>Հոֆֆմանի</a:t>
            </a:r>
            <a:r>
              <a:rPr lang="hy-AM" dirty="0"/>
              <a:t> </a:t>
            </a:r>
            <a:r>
              <a:rPr lang="hy-AM" dirty="0">
                <a:solidFill>
                  <a:schemeClr val="tx1"/>
                </a:solidFill>
                <a:latin typeface="Sylfaen" panose="010A0502050306030303" pitchFamily="18" charset="0"/>
              </a:rPr>
              <a:t> կոդավորում</a:t>
            </a:r>
            <a:r>
              <a:rPr lang="en-US" dirty="0">
                <a:solidFill>
                  <a:schemeClr val="tx1"/>
                </a:solidFill>
                <a:latin typeface="Sylfaen" panose="010A0502050306030303" pitchFamily="18" charset="0"/>
              </a:rPr>
              <a:t> (H)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6B3A5-AACA-F9EC-2287-C3A668F518F7}"/>
              </a:ext>
            </a:extLst>
          </p:cNvPr>
          <p:cNvSpPr txBox="1"/>
          <p:nvPr/>
        </p:nvSpPr>
        <p:spPr>
          <a:xfrm>
            <a:off x="5852160" y="2778253"/>
            <a:ext cx="571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FE5B5-8CB4-EF6C-C3CD-B25D570E4BE2}"/>
              </a:ext>
            </a:extLst>
          </p:cNvPr>
          <p:cNvSpPr txBox="1"/>
          <p:nvPr/>
        </p:nvSpPr>
        <p:spPr>
          <a:xfrm>
            <a:off x="3794760" y="5894754"/>
            <a:ext cx="234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Վերծանումը կլինի</a:t>
            </a:r>
            <a:r>
              <a:rPr lang="en-US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`</a:t>
            </a:r>
            <a:r>
              <a:rPr lang="hy-AM" sz="18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C3ED8E-0032-5A1F-81FD-995C6C7AC956}"/>
                  </a:ext>
                </a:extLst>
              </p:cNvPr>
              <p:cNvSpPr txBox="1"/>
              <p:nvPr/>
            </p:nvSpPr>
            <p:spPr>
              <a:xfrm>
                <a:off x="6073140" y="5859103"/>
                <a:ext cx="234315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C3ED8E-0032-5A1F-81FD-995C6C7AC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140" y="5859103"/>
                <a:ext cx="2343150" cy="404983"/>
              </a:xfrm>
              <a:prstGeom prst="rect">
                <a:avLst/>
              </a:prstGeom>
              <a:blipFill>
                <a:blip r:embed="rId4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18E7130-3617-540D-26C1-D4CB542AA635}"/>
              </a:ext>
            </a:extLst>
          </p:cNvPr>
          <p:cNvSpPr txBox="1"/>
          <p:nvPr/>
        </p:nvSpPr>
        <p:spPr>
          <a:xfrm>
            <a:off x="1468755" y="4077148"/>
            <a:ext cx="3377565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y-AM" sz="1600" dirty="0"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Կատարում է ուժեղ ավելորդության հեռացում և ներքին էնտրոպիայի կոդավորում</a:t>
            </a:r>
            <a:endParaRPr lang="en-US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4121AF-4808-7163-4A90-E1471848E5FD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3157538" y="3539964"/>
            <a:ext cx="1097280" cy="53718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7AF4C34-EC4D-24A3-C0A8-546689965E51}"/>
              </a:ext>
            </a:extLst>
          </p:cNvPr>
          <p:cNvSpPr txBox="1"/>
          <p:nvPr/>
        </p:nvSpPr>
        <p:spPr>
          <a:xfrm>
            <a:off x="5421270" y="4104363"/>
            <a:ext cx="610362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hy-AM" sz="1600" dirty="0"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Ս</a:t>
            </a:r>
            <a:r>
              <a:rPr lang="hy-AM" sz="1600" dirty="0">
                <a:effectLst/>
                <a:latin typeface="Sylfaen" panose="010A0502050306030303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եղմումը սկսվում է մուտքային բայթերը սկանավորելով և 0-ից մինչև 255 բայթային արժեքների համար հաճախականության մոդել կառուցելով, ապա կառուցվում է Հոֆֆմանի ծառը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3170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E6C81-02B0-3264-EF1D-48A7A5FD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EC09B4-C061-A3F1-0419-0F0CB1E7EA2A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Համեմատական արդյունքներ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429F6D-76C5-3F7F-B4DB-9A6743350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0045"/>
              </p:ext>
            </p:extLst>
          </p:nvPr>
        </p:nvGraphicFramePr>
        <p:xfrm>
          <a:off x="2827069" y="1600476"/>
          <a:ext cx="7797316" cy="248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456">
                  <a:extLst>
                    <a:ext uri="{9D8B030D-6E8A-4147-A177-3AD203B41FA5}">
                      <a16:colId xmlns:a16="http://schemas.microsoft.com/office/drawing/2014/main" val="343473546"/>
                    </a:ext>
                  </a:extLst>
                </a:gridCol>
                <a:gridCol w="1512727">
                  <a:extLst>
                    <a:ext uri="{9D8B030D-6E8A-4147-A177-3AD203B41FA5}">
                      <a16:colId xmlns:a16="http://schemas.microsoft.com/office/drawing/2014/main" val="4250417231"/>
                    </a:ext>
                  </a:extLst>
                </a:gridCol>
                <a:gridCol w="2184867">
                  <a:extLst>
                    <a:ext uri="{9D8B030D-6E8A-4147-A177-3AD203B41FA5}">
                      <a16:colId xmlns:a16="http://schemas.microsoft.com/office/drawing/2014/main" val="3362841742"/>
                    </a:ext>
                  </a:extLst>
                </a:gridCol>
                <a:gridCol w="1870266">
                  <a:extLst>
                    <a:ext uri="{9D8B030D-6E8A-4147-A177-3AD203B41FA5}">
                      <a16:colId xmlns:a16="http://schemas.microsoft.com/office/drawing/2014/main" val="1471062604"/>
                    </a:ext>
                  </a:extLst>
                </a:gridCol>
              </a:tblGrid>
              <a:tr h="7279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Սեղմման մեթոդ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Սեղմված ֆայլի չափ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Սեղմման հարաբերակցություն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Ժամանակ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(</a:t>
                      </a: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վ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131192"/>
                  </a:ext>
                </a:extLst>
              </a:tr>
              <a:tr h="4031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46,185,332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dirty="0">
                          <a:effectLst/>
                          <a:latin typeface="MS Mincho" panose="02020609040205080304" pitchFamily="49" charset="-128"/>
                          <a:ea typeface="Calibri" panose="020F0502020204030204" pitchFamily="34" charset="0"/>
                          <a:cs typeface="MS Mincho" panose="02020609040205080304" pitchFamily="49" charset="-128"/>
                        </a:rPr>
                        <a:t>․</a:t>
                      </a: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7244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21.82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059619"/>
                  </a:ext>
                </a:extLst>
              </a:tr>
              <a:tr h="4031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119,204,857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1.0556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18.71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699382"/>
                  </a:ext>
                </a:extLst>
              </a:tr>
              <a:tr h="4031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 + Zstd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119,207,596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1.0555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65.95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479829"/>
                  </a:ext>
                </a:extLst>
              </a:tr>
              <a:tr h="4031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6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46,157,782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>
                          <a:effectLst/>
                          <a:latin typeface="MS Mincho" panose="02020609040205080304" pitchFamily="49" charset="-128"/>
                          <a:ea typeface="Calibri" panose="020F0502020204030204" pitchFamily="34" charset="0"/>
                          <a:cs typeface="MS Mincho" panose="02020609040205080304" pitchFamily="49" charset="-128"/>
                        </a:rPr>
                        <a:t>․</a:t>
                      </a: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7261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27.84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5326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FA7522-6F82-75DF-FEB0-987BCC1EA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531355"/>
              </p:ext>
            </p:extLst>
          </p:nvPr>
        </p:nvGraphicFramePr>
        <p:xfrm>
          <a:off x="2561714" y="4282962"/>
          <a:ext cx="8342505" cy="242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156">
                  <a:extLst>
                    <a:ext uri="{9D8B030D-6E8A-4147-A177-3AD203B41FA5}">
                      <a16:colId xmlns:a16="http://schemas.microsoft.com/office/drawing/2014/main" val="3240869388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4260469487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592434044"/>
                    </a:ext>
                  </a:extLst>
                </a:gridCol>
                <a:gridCol w="1240675">
                  <a:extLst>
                    <a:ext uri="{9D8B030D-6E8A-4147-A177-3AD203B41FA5}">
                      <a16:colId xmlns:a16="http://schemas.microsoft.com/office/drawing/2014/main" val="3517853444"/>
                    </a:ext>
                  </a:extLst>
                </a:gridCol>
                <a:gridCol w="1628254">
                  <a:extLst>
                    <a:ext uri="{9D8B030D-6E8A-4147-A177-3AD203B41FA5}">
                      <a16:colId xmlns:a16="http://schemas.microsoft.com/office/drawing/2014/main" val="3856678099"/>
                    </a:ext>
                  </a:extLst>
                </a:gridCol>
              </a:tblGrid>
              <a:tr h="1158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Սեղմման մեթոդ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Սեղմված ֆայլի չափ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Սեղմման հարաբերակցություն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Սեղմման ժամանակ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(</a:t>
                      </a: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վ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Հետսեղմման ժամանակ </a:t>
                      </a:r>
                      <a:b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(</a:t>
                      </a: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վ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39352"/>
                  </a:ext>
                </a:extLst>
              </a:tr>
              <a:tr h="7598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 + </a:t>
                      </a:r>
                      <a:r>
                        <a:rPr lang="hy-AM" sz="16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46,157,782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2.7261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27.84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9.49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6162626"/>
                  </a:ext>
                </a:extLst>
              </a:tr>
              <a:tr h="507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6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Հոֆֆման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46,187,392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2.7243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24.41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434808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DB3213C-75F2-F368-D213-4E3503E6E8A6}"/>
              </a:ext>
            </a:extLst>
          </p:cNvPr>
          <p:cNvSpPr/>
          <p:nvPr/>
        </p:nvSpPr>
        <p:spPr>
          <a:xfrm>
            <a:off x="2827068" y="3636631"/>
            <a:ext cx="7797317" cy="4863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75E2C-B52B-F901-AA14-D5254B99B444}"/>
              </a:ext>
            </a:extLst>
          </p:cNvPr>
          <p:cNvSpPr txBox="1"/>
          <p:nvPr/>
        </p:nvSpPr>
        <p:spPr>
          <a:xfrm>
            <a:off x="1828801" y="856110"/>
            <a:ext cx="10211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Առաջարկված</a:t>
            </a:r>
            <a:r>
              <a:rPr lang="hy-AM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խողովակաշարերի և մնացած երեք սեղմման մեթոդների համեմատությունները օգտագործելով նույն </a:t>
            </a:r>
            <a:r>
              <a:rPr lang="en-US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 </a:t>
            </a:r>
            <a:r>
              <a:rPr lang="hy-AM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ֆայլ, որի սկզբնական չափը </a:t>
            </a:r>
            <a:r>
              <a:rPr lang="hy-AM" b="1" dirty="0">
                <a:latin typeface="Sylfaen" panose="010A0502050306030303" pitchFamily="18" charset="0"/>
              </a:rPr>
              <a:t>125,829,120</a:t>
            </a:r>
            <a:r>
              <a:rPr lang="hy-AM" dirty="0">
                <a:latin typeface="Sylfaen" panose="010A0502050306030303" pitchFamily="18" charset="0"/>
              </a:rPr>
              <a:t> </a:t>
            </a:r>
            <a:r>
              <a:rPr lang="en-US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y-AM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բայթ է</a:t>
            </a:r>
            <a:endParaRPr lang="en-US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472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4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B46DA-D4B0-957F-B595-CFA767A9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86B87-82C7-A770-41FE-540567B7ED7C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Համեմատական արդյունքներ</a:t>
            </a:r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(2)</a:t>
            </a:r>
            <a:endParaRPr lang="hy-AM" sz="32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1D6B0B-C8EE-4669-B5A0-CB2205E17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780777"/>
              </p:ext>
            </p:extLst>
          </p:nvPr>
        </p:nvGraphicFramePr>
        <p:xfrm>
          <a:off x="2329132" y="856110"/>
          <a:ext cx="9471802" cy="5812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595">
                  <a:extLst>
                    <a:ext uri="{9D8B030D-6E8A-4147-A177-3AD203B41FA5}">
                      <a16:colId xmlns:a16="http://schemas.microsoft.com/office/drawing/2014/main" val="319067040"/>
                    </a:ext>
                  </a:extLst>
                </a:gridCol>
                <a:gridCol w="1833595">
                  <a:extLst>
                    <a:ext uri="{9D8B030D-6E8A-4147-A177-3AD203B41FA5}">
                      <a16:colId xmlns:a16="http://schemas.microsoft.com/office/drawing/2014/main" val="1698352000"/>
                    </a:ext>
                  </a:extLst>
                </a:gridCol>
                <a:gridCol w="2307495">
                  <a:extLst>
                    <a:ext uri="{9D8B030D-6E8A-4147-A177-3AD203B41FA5}">
                      <a16:colId xmlns:a16="http://schemas.microsoft.com/office/drawing/2014/main" val="3603896938"/>
                    </a:ext>
                  </a:extLst>
                </a:gridCol>
                <a:gridCol w="2022002">
                  <a:extLst>
                    <a:ext uri="{9D8B030D-6E8A-4147-A177-3AD203B41FA5}">
                      <a16:colId xmlns:a16="http://schemas.microsoft.com/office/drawing/2014/main" val="466828650"/>
                    </a:ext>
                  </a:extLst>
                </a:gridCol>
                <a:gridCol w="1475115">
                  <a:extLst>
                    <a:ext uri="{9D8B030D-6E8A-4147-A177-3AD203B41FA5}">
                      <a16:colId xmlns:a16="http://schemas.microsoft.com/office/drawing/2014/main" val="2996155990"/>
                    </a:ext>
                  </a:extLst>
                </a:gridCol>
              </a:tblGrid>
              <a:tr h="9410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Սկզբնական ֆայլի չափ (բայթ)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Սեղմման մեթոդ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Սեղմված ֆայլի չափ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(</a:t>
                      </a:r>
                      <a:r>
                        <a:rPr lang="hy-AM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բայթ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Սեղմման հարաբերակցություն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Սեղմման ժամանակ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(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վ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3366573111"/>
                  </a:ext>
                </a:extLst>
              </a:tr>
              <a:tr h="5883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Ֆայլ 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52,428,800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11,960,049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4.3837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6.6256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3319840340"/>
                  </a:ext>
                </a:extLst>
              </a:tr>
              <a:tr h="385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 + </a:t>
                      </a:r>
                      <a:r>
                        <a:rPr lang="hy-AM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Հոֆֆման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11,964,646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4.3820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5.3986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814319840"/>
                  </a:ext>
                </a:extLst>
              </a:tr>
              <a:tr h="5883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Ֆայլ 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89,128,960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17,010,562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5.2396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13.2382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3981644410"/>
                  </a:ext>
                </a:extLst>
              </a:tr>
              <a:tr h="385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Հոֆֆման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17,017,594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5.2375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12.2145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2777527175"/>
                  </a:ext>
                </a:extLst>
              </a:tr>
              <a:tr h="5883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Ֆայլ 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167,772,160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89,918,530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1.8658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69.8884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2521262396"/>
                  </a:ext>
                </a:extLst>
              </a:tr>
              <a:tr h="385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Հոֆֆման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89,933,960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1.8655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63.0128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2835721298"/>
                  </a:ext>
                </a:extLst>
              </a:tr>
              <a:tr h="5883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Ֆայլ 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209,715,200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107,131,740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1.9575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88.4450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181135159"/>
                  </a:ext>
                </a:extLst>
              </a:tr>
              <a:tr h="385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Հոֆֆման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107,188,415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1.9565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80.9248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616644488"/>
                  </a:ext>
                </a:extLst>
              </a:tr>
              <a:tr h="5883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Ֆայլ 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262,144,000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Թվաբանական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96,463,290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2.7176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79.8615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3257703881"/>
                  </a:ext>
                </a:extLst>
              </a:tr>
              <a:tr h="385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Zstd + </a:t>
                      </a:r>
                      <a:r>
                        <a:rPr lang="hy-AM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Հոֆֆման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96,495,118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2.7167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Sylfaen" panose="010A0502050306030303" pitchFamily="18" charset="0"/>
                        </a:rPr>
                        <a:t>75.7184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91" marR="33491" marT="0" marB="0" anchor="ctr"/>
                </a:tc>
                <a:extLst>
                  <a:ext uri="{0D108BD9-81ED-4DB2-BD59-A6C34878D82A}">
                    <a16:rowId xmlns:a16="http://schemas.microsoft.com/office/drawing/2014/main" val="379775885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4384A57-1F7D-8687-A96C-575F04AEBEAE}"/>
              </a:ext>
            </a:extLst>
          </p:cNvPr>
          <p:cNvSpPr/>
          <p:nvPr/>
        </p:nvSpPr>
        <p:spPr>
          <a:xfrm>
            <a:off x="8289985" y="2794959"/>
            <a:ext cx="2027208" cy="9661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78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10727-FACC-B55B-DCD8-F2C1E297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F1EC7F-4ED0-66B9-6663-6AF757E91BF2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ԵԶՐԱԿԱՑՈՒԹՅՈՒՆ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FF587-5C6F-DE8A-03C3-4700D0F4EF55}"/>
              </a:ext>
            </a:extLst>
          </p:cNvPr>
          <p:cNvSpPr txBox="1"/>
          <p:nvPr/>
        </p:nvSpPr>
        <p:spPr>
          <a:xfrm>
            <a:off x="1567130" y="1900248"/>
            <a:ext cx="10317193" cy="3057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Կատարվել է </a:t>
            </a:r>
            <a:r>
              <a:rPr lang="hy-AM" dirty="0">
                <a:solidFill>
                  <a:srgbClr val="000000"/>
                </a:solidFill>
                <a:latin typeface="Sylfaen" panose="010A0502050306030303" pitchFamily="18" charset="0"/>
                <a:ea typeface="Calibri" panose="020F0502020204030204" pitchFamily="34" charset="0"/>
                <a:cs typeface="Sylfaen" panose="010A0502050306030303" pitchFamily="18" charset="0"/>
              </a:rPr>
              <a:t>կոդավորման դասական ալգորիթմների, ձայնային ազդանշանի թվայնացված տեղեկատվության պահպանման ձևաչափերի և դրանց սեղմման ալգորիթմների ուսումնասիրություն</a:t>
            </a:r>
            <a:r>
              <a:rPr lang="hy-AM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։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Իրականացվել է </a:t>
            </a:r>
            <a:r>
              <a:rPr lang="hy-AM" dirty="0">
                <a:solidFill>
                  <a:srgbClr val="000000"/>
                </a:solidFill>
                <a:latin typeface="Sylfaen" panose="010A0502050306030303" pitchFamily="18" charset="0"/>
                <a:ea typeface="Calibri" panose="020F0502020204030204" pitchFamily="34" charset="0"/>
                <a:cs typeface="Sylfaen" panose="010A0502050306030303" pitchFamily="18" charset="0"/>
              </a:rPr>
              <a:t>օպտիմալ սեղմման ալգորիթմի մշակում և իրագործում ծրագրային ապարատի միջոցով</a:t>
            </a:r>
            <a:r>
              <a:rPr lang="hy-AM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։ Այն իրենից ներկայացնում է խողովակաշարային ալգորիթմ, որն ապահովում է սեղմման որոշ չափանիշների լավացում։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Նախագիծը բավարարում է առաջադրված տեխնիկական առաջադրանքի պահանջներին։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hy-AM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Կատարվել են մի շարք հետազոտություններ և համետատություններ աղյուսակային տեսքով՝ ալգորիթմների միջև, ինչպես նաև սեղմման չափանիշների կախվածությունները միմյանցից։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697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93E8B-9502-CD49-D794-90317F17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E89D76-06B6-78C8-A327-C8D335C97FCD}"/>
              </a:ext>
            </a:extLst>
          </p:cNvPr>
          <p:cNvSpPr txBox="1"/>
          <p:nvPr/>
        </p:nvSpPr>
        <p:spPr>
          <a:xfrm>
            <a:off x="1926565" y="252611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ԳՐԱԿԱՆՈՒԹՅԱՆ ՑԱՆԿ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B1138-7328-6640-8928-A6B20C99DF7A}"/>
              </a:ext>
            </a:extLst>
          </p:cNvPr>
          <p:cNvSpPr txBox="1"/>
          <p:nvPr/>
        </p:nvSpPr>
        <p:spPr>
          <a:xfrm>
            <a:off x="1646473" y="1118335"/>
            <a:ext cx="10352869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D.Salomon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Data Compression. The Complete Reference Fourth Edition, Springer-Verlag London Limited, 2007. –P. 17-23, 719-850. </a:t>
            </a:r>
            <a:endParaRPr lang="en-US" sz="1800" dirty="0">
              <a:effectLst/>
              <a:latin typeface="Arial LatArm"/>
              <a:ea typeface="Times New Roman" panose="02020603050405020304" pitchFamily="18" charset="0"/>
              <a:cs typeface="Arial LatArm"/>
            </a:endParaRPr>
          </a:p>
          <a:p>
            <a:pPr marL="342900" marR="0" lvl="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What is </a:t>
            </a: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Zstd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1800" u="sng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https://www.ituonline.com/tech-definitions/what-is-zstd-zstandard/</a:t>
            </a:r>
            <a:endParaRPr lang="en-US" sz="1800" dirty="0">
              <a:effectLst/>
              <a:latin typeface="Arial LatArm"/>
              <a:ea typeface="Times New Roman" panose="02020603050405020304" pitchFamily="18" charset="0"/>
              <a:cs typeface="Arial LatArm"/>
            </a:endParaRPr>
          </a:p>
          <a:p>
            <a:pPr marL="342900" marR="0" lvl="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M. </a:t>
            </a: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Kucherawy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Zstandard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Compression and the 'application/</a:t>
            </a: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zstd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' Media Type,</a:t>
            </a:r>
            <a:r>
              <a:rPr lang="en-US" sz="1800" b="1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Facebook, 2021. </a:t>
            </a:r>
            <a:r>
              <a:rPr lang="en-US" sz="1800" u="sng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https://datatracker.ietf.org/doc/html/rfc8878</a:t>
            </a:r>
            <a:endParaRPr lang="en-US" sz="1800" dirty="0">
              <a:effectLst/>
              <a:latin typeface="Arial LatArm"/>
              <a:ea typeface="Times New Roman" panose="02020603050405020304" pitchFamily="18" charset="0"/>
              <a:cs typeface="Arial LatArm"/>
            </a:endParaRPr>
          </a:p>
          <a:p>
            <a:pPr marL="342900" marR="0" lvl="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 LatArm"/>
              </a:rPr>
              <a:t>Alan V. Oppenheim, Ronald W. Schafer and John R. Buck, Discrete-Time Signal Processing, Second Edition, Prentice-Hall, 1999. -pp 541-600.</a:t>
            </a:r>
            <a:endParaRPr lang="en-US" sz="1800" dirty="0">
              <a:effectLst/>
              <a:latin typeface="Arial LatArm"/>
              <a:ea typeface="Times New Roman" panose="02020603050405020304" pitchFamily="18" charset="0"/>
              <a:cs typeface="Arial LatArm"/>
            </a:endParaRPr>
          </a:p>
          <a:p>
            <a:pPr marL="342900" marR="0" lvl="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1800" u="sng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https://github.com/facebook/zstd</a:t>
            </a:r>
            <a:endParaRPr lang="en-US" sz="1800" dirty="0">
              <a:effectLst/>
              <a:latin typeface="Arial LatArm"/>
              <a:ea typeface="Times New Roman" panose="02020603050405020304" pitchFamily="18" charset="0"/>
              <a:cs typeface="Arial LatArm"/>
            </a:endParaRPr>
          </a:p>
          <a:p>
            <a:pPr marL="342900" marR="0" lvl="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1800" u="sng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https://fastcompression.blogspot.com/2011/05/lz4-explained.html</a:t>
            </a:r>
            <a:endParaRPr lang="en-US" sz="1800" dirty="0">
              <a:effectLst/>
              <a:latin typeface="Arial LatArm"/>
              <a:ea typeface="Times New Roman" panose="02020603050405020304" pitchFamily="18" charset="0"/>
              <a:cs typeface="Arial LatArm"/>
            </a:endParaRPr>
          </a:p>
          <a:p>
            <a:pPr marL="342900" marR="0" lvl="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1800" u="sng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https://www.ijcttjournal.org/Volume64/IJCTT-V64P106.pdf</a:t>
            </a:r>
            <a:endParaRPr lang="en-US" sz="1800" dirty="0">
              <a:effectLst/>
              <a:latin typeface="Arial LatArm"/>
              <a:ea typeface="Times New Roman" panose="02020603050405020304" pitchFamily="18" charset="0"/>
              <a:cs typeface="Arial LatArm"/>
            </a:endParaRPr>
          </a:p>
          <a:p>
            <a:pPr marL="342900" marR="0" lvl="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1800" u="sng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https://ijssst.info/Vol-19/No-6/paper36.pdf</a:t>
            </a:r>
            <a:endParaRPr lang="en-US" sz="1800" u="sng" dirty="0">
              <a:effectLst/>
              <a:latin typeface="Sylfaen" panose="010A0502050306030303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u="sng" dirty="0">
                <a:latin typeface="Sylfaen" panose="010A0502050306030303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https://en.wikipedia.org/wiki/Asymmetric_numeral_systems</a:t>
            </a:r>
            <a:endParaRPr lang="en-US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086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 bright="70000" contrast="-70000"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FA739-E079-78AC-6563-ECDF4DEA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A604DA-046F-2351-FE74-B7B9C2C4AB19}"/>
              </a:ext>
            </a:extLst>
          </p:cNvPr>
          <p:cNvSpPr txBox="1"/>
          <p:nvPr/>
        </p:nvSpPr>
        <p:spPr>
          <a:xfrm>
            <a:off x="1771290" y="3127250"/>
            <a:ext cx="9598325" cy="6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y-AM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ՇՆՈՐՀԱԿԱԼՈՒԹՅՈՒՆ</a:t>
            </a:r>
          </a:p>
        </p:txBody>
      </p:sp>
    </p:spTree>
    <p:extLst>
      <p:ext uri="{BB962C8B-B14F-4D97-AF65-F5344CB8AC3E}">
        <p14:creationId xmlns:p14="http://schemas.microsoft.com/office/powerpoint/2010/main" val="2788979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Chart06_16x9.potx" id="{3C4BC011-9EDC-4DFB-8A68-37DEDDFE6C2B}" vid="{D35E8C47-702A-41D1-BDB4-1DA9434A1E6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1669306</Value>
      <Value>1669445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2013-01-21T07:54:00+00:00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ApprovalLog xmlns="4873beb7-5857-4685-be1f-d57550cc96cc" xsi:nil="true"/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TP104001058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875887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LocMarketGroupTiers2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CCCEA7-1327-49DD-AC35-4264F7CCB5D7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0ED8FEBD-5ABD-4CF4-8A24-EAAA08BD57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5EAC7E-3670-4A33-88E9-089AAE82E0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265efc6-e181-49d6-80f4-fae95cf838a0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1532</TotalTime>
  <Words>1514</Words>
  <Application>Microsoft Office PowerPoint</Application>
  <PresentationFormat>Widescreen</PresentationFormat>
  <Paragraphs>300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MS Mincho</vt:lpstr>
      <vt:lpstr>Aptos</vt:lpstr>
      <vt:lpstr>Arial</vt:lpstr>
      <vt:lpstr>Arial LatArm</vt:lpstr>
      <vt:lpstr>Calibri</vt:lpstr>
      <vt:lpstr>Cambria Math</vt:lpstr>
      <vt:lpstr>Corbel</vt:lpstr>
      <vt:lpstr>Sylfaen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Grigoryan, Nune</dc:creator>
  <cp:lastModifiedBy>Grigoryan, Nune</cp:lastModifiedBy>
  <cp:revision>262</cp:revision>
  <dcterms:created xsi:type="dcterms:W3CDTF">2026-04-21T14:36:27Z</dcterms:created>
  <dcterms:modified xsi:type="dcterms:W3CDTF">2026-04-29T05:17:17Z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ClassificationContentMarkingHeaderLocations">
    <vt:lpwstr>Parallax:15</vt:lpwstr>
  </property>
  <property fmtid="{D5CDD505-2E9C-101B-9397-08002B2CF9AE}" pid="9" name="ClassificationContentMarkingHeaderText">
    <vt:lpwstr>[Public]</vt:lpwstr>
  </property>
</Properties>
</file>